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40"/>
  </p:notesMasterIdLst>
  <p:handoutMasterIdLst>
    <p:handoutMasterId r:id="rId41"/>
  </p:handoutMasterIdLst>
  <p:sldIdLst>
    <p:sldId id="274" r:id="rId2"/>
    <p:sldId id="601" r:id="rId3"/>
    <p:sldId id="522" r:id="rId4"/>
    <p:sldId id="531" r:id="rId5"/>
    <p:sldId id="533" r:id="rId6"/>
    <p:sldId id="587" r:id="rId7"/>
    <p:sldId id="615" r:id="rId8"/>
    <p:sldId id="415" r:id="rId9"/>
    <p:sldId id="598" r:id="rId10"/>
    <p:sldId id="618" r:id="rId11"/>
    <p:sldId id="544" r:id="rId12"/>
    <p:sldId id="543" r:id="rId13"/>
    <p:sldId id="545" r:id="rId14"/>
    <p:sldId id="613" r:id="rId15"/>
    <p:sldId id="614" r:id="rId16"/>
    <p:sldId id="582" r:id="rId17"/>
    <p:sldId id="583" r:id="rId18"/>
    <p:sldId id="595" r:id="rId19"/>
    <p:sldId id="596" r:id="rId20"/>
    <p:sldId id="535" r:id="rId21"/>
    <p:sldId id="546" r:id="rId22"/>
    <p:sldId id="536" r:id="rId23"/>
    <p:sldId id="537" r:id="rId24"/>
    <p:sldId id="539" r:id="rId25"/>
    <p:sldId id="547" r:id="rId26"/>
    <p:sldId id="540" r:id="rId27"/>
    <p:sldId id="436" r:id="rId28"/>
    <p:sldId id="437" r:id="rId29"/>
    <p:sldId id="438" r:id="rId30"/>
    <p:sldId id="454" r:id="rId31"/>
    <p:sldId id="597" r:id="rId32"/>
    <p:sldId id="479" r:id="rId33"/>
    <p:sldId id="509" r:id="rId34"/>
    <p:sldId id="480" r:id="rId35"/>
    <p:sldId id="580" r:id="rId36"/>
    <p:sldId id="324" r:id="rId37"/>
    <p:sldId id="505" r:id="rId38"/>
    <p:sldId id="506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A11FA96-18A5-4E62-BE3D-9D10154D5B0A}">
          <p14:sldIdLst>
            <p14:sldId id="274"/>
            <p14:sldId id="601"/>
          </p14:sldIdLst>
        </p14:section>
        <p14:section name="Преговор" id="{F9E4BECA-0ADD-4EA2-8CB8-B145E0E53A46}">
          <p14:sldIdLst>
            <p14:sldId id="522"/>
            <p14:sldId id="531"/>
            <p14:sldId id="533"/>
            <p14:sldId id="587"/>
          </p14:sldIdLst>
        </p14:section>
        <p14:section name="While Loop" id="{5D77B63A-D9BE-465B-AADF-F7560642856B}">
          <p14:sldIdLst>
            <p14:sldId id="615"/>
            <p14:sldId id="415"/>
            <p14:sldId id="598"/>
            <p14:sldId id="618"/>
            <p14:sldId id="544"/>
            <p14:sldId id="543"/>
            <p14:sldId id="545"/>
            <p14:sldId id="613"/>
            <p14:sldId id="614"/>
            <p14:sldId id="582"/>
            <p14:sldId id="583"/>
            <p14:sldId id="595"/>
            <p14:sldId id="596"/>
            <p14:sldId id="535"/>
            <p14:sldId id="546"/>
            <p14:sldId id="536"/>
            <p14:sldId id="537"/>
            <p14:sldId id="539"/>
            <p14:sldId id="547"/>
            <p14:sldId id="540"/>
            <p14:sldId id="436"/>
            <p14:sldId id="437"/>
            <p14:sldId id="438"/>
            <p14:sldId id="454"/>
            <p14:sldId id="597"/>
            <p14:sldId id="479"/>
            <p14:sldId id="509"/>
            <p14:sldId id="480"/>
          </p14:sldIdLst>
        </p14:section>
        <p14:section name="End Section" id="{C1A059ED-A747-45DA-A892-CBFE962331F6}">
          <p14:sldIdLst>
            <p14:sldId id="580"/>
            <p14:sldId id="324"/>
            <p14:sldId id="505"/>
            <p14:sldId id="5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4646"/>
    <a:srgbClr val="F2A40D"/>
    <a:srgbClr val="DBBD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C232DE-2511-49A3-B33B-FD78A94CD8E3}" v="22" dt="2019-12-04T16:40:36.347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13" autoAdjust="0"/>
    <p:restoredTop sz="95238" autoAdjust="0"/>
  </p:normalViewPr>
  <p:slideViewPr>
    <p:cSldViewPr showGuides="1">
      <p:cViewPr varScale="1">
        <p:scale>
          <a:sx n="122" d="100"/>
          <a:sy n="122" d="100"/>
        </p:scale>
        <p:origin x="840" y="192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-99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566"/>
    </p:cViewPr>
  </p:sorterViewPr>
  <p:notesViewPr>
    <p:cSldViewPr>
      <p:cViewPr varScale="1">
        <p:scale>
          <a:sx n="62" d="100"/>
          <a:sy n="62" d="100"/>
        </p:scale>
        <p:origin x="3154" y="72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7.09.24 г.</a:t>
            </a:fld>
            <a:endParaRPr lang="bg-BG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47000"/>
            <a:ext cx="6443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z="1100" dirty="0"/>
              <a:t>© SoftUni – </a:t>
            </a:r>
            <a:r>
              <a:rPr lang="en-US" sz="1100" u="sng" dirty="0">
                <a:hlinkClick r:id="rId2"/>
              </a:rPr>
              <a:t>https://softuni.org</a:t>
            </a:r>
            <a:r>
              <a:rPr lang="en-US" sz="1100" dirty="0"/>
              <a:t>. Copyrighted document. Unauthorized copy or reproduction is not permitted.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47000"/>
            <a:ext cx="412413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9/7/24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2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5DCA54D3-AF63-4635-8C7E-A1E515D292E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965472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20A46539-8F33-430F-B82B-10F7DB503D9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7151935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CD7D4C29-769A-419B-989C-79DB84FF964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7338105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8B65F536-C807-454E-B689-77D50C7CEFA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3904126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305B9544-8FB9-4918-B6F7-2BCAEEB744C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7732003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A3E7BCF0-1D0E-48CB-83E0-062FCA50330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3499969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EFA8EA15-795B-4CB9-9535-D93BE61073B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4554081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97CCA505-2F52-4F7F-B614-549FF8830D9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5599271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EDE3065C-94C9-4594-8883-27A842D13C0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40644361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C0F205-FB23-4B4A-AA1E-CC80DEDB9B7E}" type="slidenum">
              <a:rPr lang="en-BG" smtClean="0"/>
              <a:t>36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2014459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9C7025C9-CBFD-4B7E-95C0-BE6F5B223A4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7010719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D1C0779-821B-433B-AB3A-0953EE966C7E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1080B902-9319-456E-AC55-BE9C7163F17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9361151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hyperlink" Target="https://softuni.org/" TargetMode="Externa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hyperlink" Target="https://softuni.org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11" Type="http://schemas.openxmlformats.org/officeDocument/2006/relationships/image" Target="../media/image4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hyperlink" Target="https://softuni.foundation/" TargetMode="External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hyperlink" Target="https://www.facebook.com/SoftwareUniversity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softuni.bg/" TargetMode="External"/><Relationship Id="rId5" Type="http://schemas.openxmlformats.org/officeDocument/2006/relationships/image" Target="../media/image17.png"/><Relationship Id="rId10" Type="http://schemas.openxmlformats.org/officeDocument/2006/relationships/image" Target="../media/image5.png"/><Relationship Id="rId4" Type="http://schemas.openxmlformats.org/officeDocument/2006/relationships/hyperlink" Target="https://softuni.org/" TargetMode="External"/><Relationship Id="rId9" Type="http://schemas.openxmlformats.org/officeDocument/2006/relationships/hyperlink" Target="https://forum.softuni.bg/" TargetMode="Externa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Picture Logo SoftUni" descr="SoftUni logo">
            <a:extLst>
              <a:ext uri="{FF2B5EF4-FFF2-40B4-BE49-F238E27FC236}">
                <a16:creationId xmlns:a16="http://schemas.microsoft.com/office/drawing/2014/main" id="{C4D6B2A2-DFF0-4712-BFEC-6676BEC99F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460" y="5184000"/>
            <a:ext cx="3751540" cy="1297655"/>
          </a:xfrm>
          <a:prstGeom prst="rect">
            <a:avLst/>
          </a:prstGeom>
        </p:spPr>
      </p:pic>
      <p:sp>
        <p:nvSpPr>
          <p:cNvPr id="31" name="Text Placeholder Company Site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8708505" y="6130863"/>
            <a:ext cx="2951518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798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Company Web Site</a:t>
            </a:r>
          </a:p>
        </p:txBody>
      </p:sp>
      <p:sp>
        <p:nvSpPr>
          <p:cNvPr id="30" name="Text Placeholder Company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8708505" y="5756628"/>
            <a:ext cx="2951518" cy="367080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998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Company Name</a:t>
            </a:r>
          </a:p>
        </p:txBody>
      </p:sp>
      <p:pic>
        <p:nvPicPr>
          <p:cNvPr id="35" name="Picture SoftUni Mascot" descr="SoftUni mascot">
            <a:extLst>
              <a:ext uri="{FF2B5EF4-FFF2-40B4-BE49-F238E27FC236}">
                <a16:creationId xmlns:a16="http://schemas.microsoft.com/office/drawing/2014/main" id="{951E7DA9-C5F0-43D9-B013-3BDF9EEF029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8848924" y="2609644"/>
            <a:ext cx="2788893" cy="3018284"/>
          </a:xfrm>
          <a:prstGeom prst="rect">
            <a:avLst/>
          </a:prstGeom>
        </p:spPr>
      </p:pic>
      <p:pic>
        <p:nvPicPr>
          <p:cNvPr id="22" name="Picture Logo Software University" descr="Software University logo">
            <a:hlinkClick r:id="rId4"/>
            <a:extLst>
              <a:ext uri="{FF2B5EF4-FFF2-40B4-BE49-F238E27FC236}">
                <a16:creationId xmlns:a16="http://schemas.microsoft.com/office/drawing/2014/main" id="{F2315EB3-3FE4-4D3B-921E-5F209CEC13C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944" y="5918567"/>
            <a:ext cx="1830305" cy="628159"/>
          </a:xfrm>
          <a:prstGeom prst="rect">
            <a:avLst/>
          </a:prstGeom>
        </p:spPr>
      </p:pic>
      <p:sp>
        <p:nvSpPr>
          <p:cNvPr id="40" name="Text Placeholder Author Position">
            <a:extLst>
              <a:ext uri="{FF2B5EF4-FFF2-40B4-BE49-F238E27FC236}">
                <a16:creationId xmlns:a16="http://schemas.microsoft.com/office/drawing/2014/main" id="{CD940256-851E-46C8-8BFB-A5ECA6C7DA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553082" y="5344180"/>
            <a:ext cx="2980696" cy="444793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398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Position</a:t>
            </a:r>
          </a:p>
        </p:txBody>
      </p:sp>
      <p:sp>
        <p:nvSpPr>
          <p:cNvPr id="36" name="Text Placeholder Author Name">
            <a:extLst>
              <a:ext uri="{FF2B5EF4-FFF2-40B4-BE49-F238E27FC236}">
                <a16:creationId xmlns:a16="http://schemas.microsoft.com/office/drawing/2014/main" id="{3B21F47B-DE1F-442D-A2B7-6866F87867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553082" y="4851838"/>
            <a:ext cx="2980696" cy="454398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798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 Name</a:t>
            </a: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3082" y="2740913"/>
            <a:ext cx="4642919" cy="193650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182" y="1258272"/>
            <a:ext cx="11083636" cy="1315728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598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182" y="321502"/>
            <a:ext cx="11083636" cy="882654"/>
          </a:xfrm>
        </p:spPr>
        <p:txBody>
          <a:bodyPr/>
          <a:lstStyle>
            <a:lvl1pPr algn="ctr" latinLnBrk="0">
              <a:defRPr sz="4798"/>
            </a:lvl1pPr>
          </a:lstStyle>
          <a:p>
            <a:r>
              <a:rPr lang="en-US" noProof="0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970179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" descr="Software University logo">
            <a:extLst>
              <a:ext uri="{FF2B5EF4-FFF2-40B4-BE49-F238E27FC236}">
                <a16:creationId xmlns:a16="http://schemas.microsoft.com/office/drawing/2014/main" id="{B1D3B425-B9BF-43ED-9DEC-C05002FBA2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3" name="Logo Software University" descr="Software University logo">
            <a:extLst>
              <a:ext uri="{FF2B5EF4-FFF2-40B4-BE49-F238E27FC236}">
                <a16:creationId xmlns:a16="http://schemas.microsoft.com/office/drawing/2014/main" id="{5573C101-930B-47AC-967A-A64513DFFD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7" y="100750"/>
            <a:ext cx="8625520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3CDBCC2-1C96-44BC-B992-7B0C49C34904}"/>
              </a:ext>
            </a:extLst>
          </p:cNvPr>
          <p:cNvGrpSpPr/>
          <p:nvPr userDrawn="1"/>
        </p:nvGrpSpPr>
        <p:grpSpPr>
          <a:xfrm>
            <a:off x="185076" y="1868177"/>
            <a:ext cx="1937508" cy="3070349"/>
            <a:chOff x="3928039" y="1792355"/>
            <a:chExt cx="1830304" cy="290046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D71B3A8-4D39-42CF-9255-81EA3A622DD6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98059F9-1874-426D-8AF7-A12C21F37DD9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26" name="Rectangle 5">
                <a:extLst>
                  <a:ext uri="{FF2B5EF4-FFF2-40B4-BE49-F238E27FC236}">
                    <a16:creationId xmlns:a16="http://schemas.microsoft.com/office/drawing/2014/main" id="{A3A1E077-DBDF-48F0-A924-604984B940A2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27" name="Rectangle 5">
                <a:extLst>
                  <a:ext uri="{FF2B5EF4-FFF2-40B4-BE49-F238E27FC236}">
                    <a16:creationId xmlns:a16="http://schemas.microsoft.com/office/drawing/2014/main" id="{798B1F51-1FA4-4199-81C7-62356C936CC9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40A224C8-1233-40F7-96AB-BFF79AF6CDCB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 dirty="0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29" name="Arc 28">
                <a:extLst>
                  <a:ext uri="{FF2B5EF4-FFF2-40B4-BE49-F238E27FC236}">
                    <a16:creationId xmlns:a16="http://schemas.microsoft.com/office/drawing/2014/main" id="{B57C7CCC-E218-4321-8C7B-3F0C5753C7A1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 dirty="0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6AF309CA-A56C-4ABC-B293-420F4EB1A9B4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 dirty="0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7955808-2AC7-44EB-8B6D-82B974E53A3C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 dirty="0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C6420D7-AEAB-45EF-8D46-11EB06E4AF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6C7FABC-6773-44F6-990B-3EB082BE9B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FAD48E1-DC45-4B3D-9CE5-613250708496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B01FD1D1-046F-457B-AB63-2702CE3E906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895660C3-C72C-43EE-9C4A-170F85E5BE0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74EE503-8FC0-42A6-8860-CA4EE42272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4189FDA-9FE8-490B-8A70-2E941811021F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 dirty="0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DA3EFCD-0DF8-419D-8533-D781521E597E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C3CC6A5A-182E-4A09-9C04-EB191881D7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440C8953-0555-48CC-8255-78F17E053E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9B538CA-8CCB-43FB-B5E5-5FC04EBC1F54}"/>
              </a:ext>
            </a:extLst>
          </p:cNvPr>
          <p:cNvCxnSpPr>
            <a:cxnSpLocks/>
            <a:stCxn id="26" idx="2"/>
          </p:cNvCxnSpPr>
          <p:nvPr userDrawn="1"/>
        </p:nvCxnSpPr>
        <p:spPr>
          <a:xfrm flipH="1">
            <a:off x="673735" y="4203953"/>
            <a:ext cx="955204" cy="0"/>
          </a:xfrm>
          <a:prstGeom prst="line">
            <a:avLst/>
          </a:prstGeom>
          <a:solidFill>
            <a:srgbClr val="464646"/>
          </a:solidFill>
          <a:ln w="38100">
            <a:solidFill>
              <a:srgbClr val="46464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3545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16" name="Logo Software University" descr="Software University logo">
            <a:extLst>
              <a:ext uri="{FF2B5EF4-FFF2-40B4-BE49-F238E27FC236}">
                <a16:creationId xmlns:a16="http://schemas.microsoft.com/office/drawing/2014/main" id="{EFEBB553-EACE-4B4F-8B4F-7629FDD910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7" y="100750"/>
            <a:ext cx="8625520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CF60135-47AA-48F0-96BA-0E795668ABDB}"/>
              </a:ext>
            </a:extLst>
          </p:cNvPr>
          <p:cNvGrpSpPr/>
          <p:nvPr userDrawn="1"/>
        </p:nvGrpSpPr>
        <p:grpSpPr>
          <a:xfrm>
            <a:off x="392806" y="3429000"/>
            <a:ext cx="1522048" cy="2411973"/>
            <a:chOff x="3928039" y="1792355"/>
            <a:chExt cx="1830304" cy="2900460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823380E-3936-41AF-BDF7-DA54D75BBF6B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52B047D9-D8DD-45C7-9BC8-6D4F682F5182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8" name="Rectangle 5">
                <a:extLst>
                  <a:ext uri="{FF2B5EF4-FFF2-40B4-BE49-F238E27FC236}">
                    <a16:creationId xmlns:a16="http://schemas.microsoft.com/office/drawing/2014/main" id="{4D84FE51-BD8E-47EA-9463-CE02FEA31766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9" name="Rectangle 5">
                <a:extLst>
                  <a:ext uri="{FF2B5EF4-FFF2-40B4-BE49-F238E27FC236}">
                    <a16:creationId xmlns:a16="http://schemas.microsoft.com/office/drawing/2014/main" id="{F5C8F037-C197-4219-AC87-3A81763512BC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50" name="Arc 49">
                <a:extLst>
                  <a:ext uri="{FF2B5EF4-FFF2-40B4-BE49-F238E27FC236}">
                    <a16:creationId xmlns:a16="http://schemas.microsoft.com/office/drawing/2014/main" id="{786EE401-CF8E-439B-94A0-EE6F3A7D5798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 dirty="0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51" name="Arc 50">
                <a:extLst>
                  <a:ext uri="{FF2B5EF4-FFF2-40B4-BE49-F238E27FC236}">
                    <a16:creationId xmlns:a16="http://schemas.microsoft.com/office/drawing/2014/main" id="{8D9ACD38-B3EB-4A63-9730-CBF0501BF235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 dirty="0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64EE493E-A353-4C75-A3B9-D48ABA2C57CC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 dirty="0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718408B9-204E-42E3-9E79-33E047E869BC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 dirty="0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AB66D97-DF6F-4CD2-AF13-42B5C852F6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2AFBA69-C196-4703-8AAB-5F72A8EDCE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9AFC66C1-0C1C-4332-9C4E-782574C896B8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72CA8AD-EAF6-40BE-9DDE-ECDB4A980CA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57DD3EC7-1A13-4AFE-BD6F-DA12C281FA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46151FA-19E9-4E84-A082-EDAC6F76EA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3423EEF0-5B70-4091-B2DA-0740D2609643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 dirty="0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49A8AAA7-98E7-4224-B027-830FFCC285A3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2129EC38-471E-4685-973E-BA7A7F567C4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678142BE-84C9-4834-B6CC-6623E40166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6" y="100750"/>
            <a:ext cx="11410061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4248838-4E67-439E-AE0A-0043D2CB04D6}"/>
              </a:ext>
            </a:extLst>
          </p:cNvPr>
          <p:cNvGrpSpPr/>
          <p:nvPr userDrawn="1"/>
        </p:nvGrpSpPr>
        <p:grpSpPr>
          <a:xfrm>
            <a:off x="108596" y="5591709"/>
            <a:ext cx="641749" cy="1016973"/>
            <a:chOff x="3928039" y="1792355"/>
            <a:chExt cx="1830304" cy="290046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810CFD6A-2427-49D5-846A-5F93601D4184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17B1AE5-5C36-4839-BA1F-B404EA44E701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3" name="Rectangle 5">
                <a:extLst>
                  <a:ext uri="{FF2B5EF4-FFF2-40B4-BE49-F238E27FC236}">
                    <a16:creationId xmlns:a16="http://schemas.microsoft.com/office/drawing/2014/main" id="{FB963D79-BB49-4A1D-BA66-EA0670C79BAE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4" name="Rectangle 5">
                <a:extLst>
                  <a:ext uri="{FF2B5EF4-FFF2-40B4-BE49-F238E27FC236}">
                    <a16:creationId xmlns:a16="http://schemas.microsoft.com/office/drawing/2014/main" id="{6D7746D8-B913-493B-AAE9-25BC6893D40E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5" name="Arc 44">
                <a:extLst>
                  <a:ext uri="{FF2B5EF4-FFF2-40B4-BE49-F238E27FC236}">
                    <a16:creationId xmlns:a16="http://schemas.microsoft.com/office/drawing/2014/main" id="{29031C02-E965-417B-8799-96061B14F30D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 dirty="0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46" name="Arc 45">
                <a:extLst>
                  <a:ext uri="{FF2B5EF4-FFF2-40B4-BE49-F238E27FC236}">
                    <a16:creationId xmlns:a16="http://schemas.microsoft.com/office/drawing/2014/main" id="{26BFD8A6-BC99-4B16-BA10-08A9E5C681C0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 dirty="0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B310277F-A78E-4FB9-9EA9-88BE4F1D585B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 dirty="0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A92CF92B-C212-4542-83AE-A0058B5BB5EA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 dirty="0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63B4374-5C0D-461F-B3BD-78D99614D3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BC6FDE7-AEA1-4230-8433-4C088A0FF5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4D1021D-07C7-4331-8FF6-36980A30978B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13B7FE99-95CF-45D5-966B-87A979B9343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71BBA69B-19FF-4ADB-A739-AD8136A5F0A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FD1D86B-562B-40B2-8E46-34233EFEE7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388C17BD-16A1-43C5-BFFA-2FF9174719E1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 dirty="0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B3B910E-ACFC-4F28-8E28-F02E1588B87E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F57772B6-06C0-4F54-AA94-D3F92DA4716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23370C1F-7876-4278-AB20-78F6CAA385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Code Box">
            <a:extLst>
              <a:ext uri="{FF2B5EF4-FFF2-40B4-BE49-F238E27FC236}">
                <a16:creationId xmlns:a16="http://schemas.microsoft.com/office/drawing/2014/main" id="{3278A82F-5546-4977-9F75-2A933B4159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1234" y="1931154"/>
            <a:ext cx="10949531" cy="1362846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wrap="square" lIns="144000" tIns="108000" rIns="144000" bIns="108000">
            <a:spAutoFit/>
          </a:bodyPr>
          <a:lstStyle>
            <a:lvl1pPr marL="0" indent="0" latinLnBrk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lang="en-US" sz="2398" b="1" noProof="1" smtClean="0">
                <a:solidFill>
                  <a:schemeClr val="tx1"/>
                </a:solidFill>
                <a:effectLst/>
                <a:latin typeface="Consolas" pitchFamily="49" charset="0"/>
                <a:cs typeface="Consolas" pitchFamily="49" charset="0"/>
              </a:defRPr>
            </a:lvl1pPr>
          </a:lstStyle>
          <a:p>
            <a:pPr marL="0" lvl="0"/>
            <a:r>
              <a:rPr lang="en-US" noProof="1"/>
              <a:t>Source code box</a:t>
            </a:r>
          </a:p>
          <a:p>
            <a:pPr marL="0" lvl="0"/>
            <a:r>
              <a:rPr lang="en-US" noProof="1"/>
              <a:t>…</a:t>
            </a:r>
          </a:p>
          <a:p>
            <a:pPr marL="0" lvl="0"/>
            <a:r>
              <a:rPr lang="en-US" noProof="1"/>
              <a:t>…</a:t>
            </a:r>
          </a:p>
        </p:txBody>
      </p:sp>
      <p:sp>
        <p:nvSpPr>
          <p:cNvPr id="21" name="Slide Body Text">
            <a:extLst>
              <a:ext uri="{FF2B5EF4-FFF2-40B4-BE49-F238E27FC236}">
                <a16:creationId xmlns:a16="http://schemas.microsoft.com/office/drawing/2014/main" id="{04F318BE-2BAD-4677-871C-D78A4BF0CB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501" y="1196126"/>
            <a:ext cx="11811097" cy="5561124"/>
          </a:xfrm>
        </p:spPr>
        <p:txBody>
          <a:bodyPr/>
          <a:lstStyle>
            <a:lvl1pPr marL="0" indent="0" latinLnBrk="0">
              <a:buNone/>
              <a:defRPr>
                <a:solidFill>
                  <a:schemeClr val="tx1"/>
                </a:solidFill>
              </a:defRPr>
            </a:lvl1pPr>
            <a:lvl2pPr marL="609219" indent="0">
              <a:buNone/>
              <a:defRPr/>
            </a:lvl2pPr>
          </a:lstStyle>
          <a:p>
            <a:pPr lvl="0"/>
            <a:r>
              <a:rPr lang="en-US" noProof="0"/>
              <a:t>Sample source code:</a:t>
            </a:r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0" name="Logo Software University" descr="Software University logo">
            <a:extLst>
              <a:ext uri="{FF2B5EF4-FFF2-40B4-BE49-F238E27FC236}">
                <a16:creationId xmlns:a16="http://schemas.microsoft.com/office/drawing/2014/main" id="{8C01D7AF-7CBD-46E1-99F3-8EB60E838D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pic>
        <p:nvPicPr>
          <p:cNvPr id="9" name="Picture SoftUni Mascot" descr="SoftUni mascot with laptop">
            <a:extLst>
              <a:ext uri="{FF2B5EF4-FFF2-40B4-BE49-F238E27FC236}">
                <a16:creationId xmlns:a16="http://schemas.microsoft.com/office/drawing/2014/main" id="{DC4365F6-D2C1-47B4-8477-38FD2C7711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516000" y="3408496"/>
            <a:ext cx="2251057" cy="3044431"/>
          </a:xfrm>
          <a:prstGeom prst="rect">
            <a:avLst/>
          </a:prstGeom>
        </p:spPr>
      </p:pic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9049234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0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0"/>
            <a:r>
              <a:rPr lang="en-US" noProof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14F779A7-4A91-448B-BEFA-956C70A1C2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 Down" descr="Software University logo">
            <a:extLst>
              <a:ext uri="{FF2B5EF4-FFF2-40B4-BE49-F238E27FC236}">
                <a16:creationId xmlns:a16="http://schemas.microsoft.com/office/drawing/2014/main" id="{7028D2F0-1E67-414B-A93D-D3F8F131A1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551" y="5206773"/>
            <a:ext cx="958900" cy="1184869"/>
          </a:xfrm>
          <a:prstGeom prst="rect">
            <a:avLst/>
          </a:prstGeom>
        </p:spPr>
      </p:pic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Logo Software University" descr="Software University logo">
            <a:extLst>
              <a:ext uri="{FF2B5EF4-FFF2-40B4-BE49-F238E27FC236}">
                <a16:creationId xmlns:a16="http://schemas.microsoft.com/office/drawing/2014/main" id="{19A67BB9-D880-4EAD-B90E-89C4219BFC0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 dirty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" descr="Software University logo">
            <a:extLst>
              <a:ext uri="{FF2B5EF4-FFF2-40B4-BE49-F238E27FC236}">
                <a16:creationId xmlns:a16="http://schemas.microsoft.com/office/drawing/2014/main" id="{233CBB95-791E-4630-B3D9-FADFCE7BCF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3" name="Rectangle Bottom Copyright">
            <a:extLst>
              <a:ext uri="{FF2B5EF4-FFF2-40B4-BE49-F238E27FC236}">
                <a16:creationId xmlns:a16="http://schemas.microsoft.com/office/drawing/2014/main" id="{B07FB7FB-DA6C-4F5D-B068-357F0FCE27D8}"/>
              </a:ext>
            </a:extLst>
          </p:cNvPr>
          <p:cNvSpPr/>
          <p:nvPr userDrawn="1"/>
        </p:nvSpPr>
        <p:spPr>
          <a:xfrm>
            <a:off x="111000" y="6454758"/>
            <a:ext cx="11970000" cy="25844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© SoftUni – </a:t>
            </a:r>
            <a:r>
              <a:rPr lang="en-US" sz="1600" u="sng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https://softuni.org</a:t>
            </a: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Copyrighted document. Unauthorized copy, reproduction or use is not permitted.</a:t>
            </a:r>
            <a:endParaRPr lang="en-US" sz="2400" noProof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26" name="Picture SoftUni Mascot" descr="SoftUni mascot with open hand">
            <a:extLst>
              <a:ext uri="{FF2B5EF4-FFF2-40B4-BE49-F238E27FC236}">
                <a16:creationId xmlns:a16="http://schemas.microsoft.com/office/drawing/2014/main" id="{247CFF3C-C4FA-493D-8505-DF469F4D36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86" y="2898830"/>
            <a:ext cx="2451608" cy="2959741"/>
          </a:xfrm>
          <a:prstGeom prst="rect">
            <a:avLst/>
          </a:prstGeom>
        </p:spPr>
      </p:pic>
      <p:grpSp>
        <p:nvGrpSpPr>
          <p:cNvPr id="2" name="Group SoftUni Brands">
            <a:extLst>
              <a:ext uri="{FF2B5EF4-FFF2-40B4-BE49-F238E27FC236}">
                <a16:creationId xmlns:a16="http://schemas.microsoft.com/office/drawing/2014/main" id="{418FAE34-C1F8-46C7-A4AE-F270D1E70F25}"/>
              </a:ext>
            </a:extLst>
          </p:cNvPr>
          <p:cNvGrpSpPr/>
          <p:nvPr userDrawn="1"/>
        </p:nvGrpSpPr>
        <p:grpSpPr>
          <a:xfrm>
            <a:off x="3332216" y="1702473"/>
            <a:ext cx="8314909" cy="3543782"/>
            <a:chOff x="3332216" y="1702473"/>
            <a:chExt cx="8314909" cy="3543782"/>
          </a:xfrm>
        </p:grpSpPr>
        <p:pic>
          <p:nvPicPr>
            <p:cNvPr id="24" name="Picture SoftUni Kids Logo" descr="SoftUni Kids logo">
              <a:extLst>
                <a:ext uri="{FF2B5EF4-FFF2-40B4-BE49-F238E27FC236}">
                  <a16:creationId xmlns:a16="http://schemas.microsoft.com/office/drawing/2014/main" id="{B0812936-74B6-4265-8C08-AEDC8C7987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16883" y="3776294"/>
              <a:ext cx="1130242" cy="1389256"/>
            </a:xfrm>
            <a:prstGeom prst="rect">
              <a:avLst/>
            </a:prstGeom>
          </p:spPr>
        </p:pic>
        <p:pic>
          <p:nvPicPr>
            <p:cNvPr id="23" name="Picture SoftUni Foundation Logo" descr="SoftUni Foundation logo">
              <a:extLst>
                <a:ext uri="{FF2B5EF4-FFF2-40B4-BE49-F238E27FC236}">
                  <a16:creationId xmlns:a16="http://schemas.microsoft.com/office/drawing/2014/main" id="{6643F71A-2013-433A-8322-FBAAED316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53913" y="3788231"/>
              <a:ext cx="1166400" cy="1350756"/>
            </a:xfrm>
            <a:prstGeom prst="rect">
              <a:avLst/>
            </a:prstGeom>
          </p:spPr>
        </p:pic>
        <p:pic>
          <p:nvPicPr>
            <p:cNvPr id="22" name="Picture SoftUni Digital Logo" descr="SoftUni Digital logo">
              <a:extLst>
                <a:ext uri="{FF2B5EF4-FFF2-40B4-BE49-F238E27FC236}">
                  <a16:creationId xmlns:a16="http://schemas.microsoft.com/office/drawing/2014/main" id="{0A83D66F-855B-463B-920B-BF239B01A20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57695" y="3789000"/>
              <a:ext cx="1084614" cy="1457255"/>
            </a:xfrm>
            <a:prstGeom prst="rect">
              <a:avLst/>
            </a:prstGeom>
          </p:spPr>
        </p:pic>
        <p:pic>
          <p:nvPicPr>
            <p:cNvPr id="21" name="Picture SoftUni Creative Logo" descr="SoftUni Creative logo">
              <a:extLst>
                <a:ext uri="{FF2B5EF4-FFF2-40B4-BE49-F238E27FC236}">
                  <a16:creationId xmlns:a16="http://schemas.microsoft.com/office/drawing/2014/main" id="{EA755AAE-BA08-481C-9224-0061170EE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3913" y="3776293"/>
              <a:ext cx="1166400" cy="1389257"/>
            </a:xfrm>
            <a:prstGeom prst="rect">
              <a:avLst/>
            </a:prstGeom>
          </p:spPr>
        </p:pic>
        <p:pic>
          <p:nvPicPr>
            <p:cNvPr id="20" name="Picture SoftUni Svetlina Logo" descr="SoftUni Svetlina logo">
              <a:extLst>
                <a:ext uri="{FF2B5EF4-FFF2-40B4-BE49-F238E27FC236}">
                  <a16:creationId xmlns:a16="http://schemas.microsoft.com/office/drawing/2014/main" id="{827D15FD-4C66-4B85-98E6-7826AA8F6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5029" y="3776293"/>
              <a:ext cx="1166400" cy="1402229"/>
            </a:xfrm>
            <a:prstGeom prst="rect">
              <a:avLst/>
            </a:prstGeom>
          </p:spPr>
        </p:pic>
        <p:pic>
          <p:nvPicPr>
            <p:cNvPr id="25" name="Picture Software University Logo" descr="Software University logo">
              <a:extLst>
                <a:ext uri="{FF2B5EF4-FFF2-40B4-BE49-F238E27FC236}">
                  <a16:creationId xmlns:a16="http://schemas.microsoft.com/office/drawing/2014/main" id="{C74C190C-5856-41B9-8819-AE8DE0E1098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2216" y="3776295"/>
              <a:ext cx="1164654" cy="1440000"/>
            </a:xfrm>
            <a:prstGeom prst="rect">
              <a:avLst/>
            </a:prstGeom>
          </p:spPr>
        </p:pic>
        <p:cxnSp>
          <p:nvCxnSpPr>
            <p:cNvPr id="33" name="Straight Connector 6">
              <a:extLst>
                <a:ext uri="{FF2B5EF4-FFF2-40B4-BE49-F238E27FC236}">
                  <a16:creationId xmlns:a16="http://schemas.microsoft.com/office/drawing/2014/main" id="{5C63D1E8-4A92-4691-8A24-A2FC7E8008E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0771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5">
              <a:extLst>
                <a:ext uri="{FF2B5EF4-FFF2-40B4-BE49-F238E27FC236}">
                  <a16:creationId xmlns:a16="http://schemas.microsoft.com/office/drawing/2014/main" id="{6E91D320-3732-40B8-864D-142D0A277ED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63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4">
              <a:extLst>
                <a:ext uri="{FF2B5EF4-FFF2-40B4-BE49-F238E27FC236}">
                  <a16:creationId xmlns:a16="http://schemas.microsoft.com/office/drawing/2014/main" id="{299ABE09-E33C-46B7-A80D-7BF4A6956211}"/>
                </a:ext>
              </a:extLst>
            </p:cNvPr>
            <p:cNvCxnSpPr/>
            <p:nvPr userDrawn="1"/>
          </p:nvCxnSpPr>
          <p:spPr>
            <a:xfrm>
              <a:off x="819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3">
              <a:extLst>
                <a:ext uri="{FF2B5EF4-FFF2-40B4-BE49-F238E27FC236}">
                  <a16:creationId xmlns:a16="http://schemas.microsoft.com/office/drawing/2014/main" id="{93DDBF37-0764-47AA-94E3-9A44F3ED8FB5}"/>
                </a:ext>
              </a:extLst>
            </p:cNvPr>
            <p:cNvCxnSpPr/>
            <p:nvPr userDrawn="1"/>
          </p:nvCxnSpPr>
          <p:spPr>
            <a:xfrm>
              <a:off x="675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">
              <a:extLst>
                <a:ext uri="{FF2B5EF4-FFF2-40B4-BE49-F238E27FC236}">
                  <a16:creationId xmlns:a16="http://schemas.microsoft.com/office/drawing/2014/main" id="{72BFE2F3-0845-4E5B-9375-E9D4027DD675}"/>
                </a:ext>
              </a:extLst>
            </p:cNvPr>
            <p:cNvCxnSpPr/>
            <p:nvPr userDrawn="1"/>
          </p:nvCxnSpPr>
          <p:spPr>
            <a:xfrm>
              <a:off x="53099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1">
              <a:extLst>
                <a:ext uri="{FF2B5EF4-FFF2-40B4-BE49-F238E27FC236}">
                  <a16:creationId xmlns:a16="http://schemas.microsoft.com/office/drawing/2014/main" id="{D4E5982E-3110-47E1-A5BB-91B7BECC3093}"/>
                </a:ext>
              </a:extLst>
            </p:cNvPr>
            <p:cNvCxnSpPr/>
            <p:nvPr userDrawn="1"/>
          </p:nvCxnSpPr>
          <p:spPr>
            <a:xfrm>
              <a:off x="3915327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Horizontal">
              <a:extLst>
                <a:ext uri="{FF2B5EF4-FFF2-40B4-BE49-F238E27FC236}">
                  <a16:creationId xmlns:a16="http://schemas.microsoft.com/office/drawing/2014/main" id="{5F62FB7C-BD6E-4383-98C1-2CF30F34CAF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915327" y="3335565"/>
              <a:ext cx="7161786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0">
              <a:extLst>
                <a:ext uri="{FF2B5EF4-FFF2-40B4-BE49-F238E27FC236}">
                  <a16:creationId xmlns:a16="http://schemas.microsoft.com/office/drawing/2014/main" id="{C84A0FE1-723D-4682-8682-77BAD950EE15}"/>
                </a:ext>
              </a:extLst>
            </p:cNvPr>
            <p:cNvCxnSpPr/>
            <p:nvPr userDrawn="1"/>
          </p:nvCxnSpPr>
          <p:spPr>
            <a:xfrm>
              <a:off x="7496220" y="309299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Picture SoftUni Logo" descr="SoftUni logo">
              <a:extLst>
                <a:ext uri="{FF2B5EF4-FFF2-40B4-BE49-F238E27FC236}">
                  <a16:creationId xmlns:a16="http://schemas.microsoft.com/office/drawing/2014/main" id="{A0675455-B7FA-4569-A5FD-A3B0F20B2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96770" y="1702473"/>
              <a:ext cx="1198901" cy="1198901"/>
            </a:xfrm>
            <a:prstGeom prst="rect">
              <a:avLst/>
            </a:prstGeom>
          </p:spPr>
        </p:pic>
      </p:grpSp>
      <p:sp>
        <p:nvSpPr>
          <p:cNvPr id="19" name="Slide Title">
            <a:extLst>
              <a:ext uri="{FF2B5EF4-FFF2-40B4-BE49-F238E27FC236}">
                <a16:creationId xmlns:a16="http://schemas.microsoft.com/office/drawing/2014/main" id="{7CFDBB16-985C-4CC7-B6DB-B81B36037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28" y="703244"/>
            <a:ext cx="5916372" cy="1033303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marR="0" lvl="0" indent="0" algn="l" defTabSz="913852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E">
                  <a:lumMod val="40000"/>
                  <a:lumOff val="60000"/>
                </a:srgbClr>
              </a:buClr>
              <a:buSzPct val="70000"/>
              <a:buFont typeface="Wingdings 2" pitchFamily="18" charset="2"/>
              <a:buNone/>
              <a:tabLst/>
              <a:defRPr/>
            </a:pPr>
            <a:r>
              <a:rPr kumimoji="0" lang="en-US" sz="8797" b="1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Questions?</a:t>
            </a:r>
            <a:endParaRPr kumimoji="0" lang="en-US" sz="8797" b="1" i="0" u="none" strike="noStrike" kern="1200" cap="none" spc="150" normalizeH="0" baseline="0" noProof="0" dirty="0">
              <a:ln w="11430"/>
              <a:solidFill>
                <a:srgbClr val="234465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6" name="Logo Software University" descr="Software University logo">
            <a:extLst>
              <a:ext uri="{FF2B5EF4-FFF2-40B4-BE49-F238E27FC236}">
                <a16:creationId xmlns:a16="http://schemas.microsoft.com/office/drawing/2014/main" id="{67FC4D2E-913D-432A-B658-F0D82839FA5E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">
            <a:extLst>
              <a:ext uri="{FF2B5EF4-FFF2-40B4-BE49-F238E27FC236}">
                <a16:creationId xmlns:a16="http://schemas.microsoft.com/office/drawing/2014/main" id="{5B8761D8-B42F-4A70-A0CE-682CEB2AE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pic>
        <p:nvPicPr>
          <p:cNvPr id="17" name="Picture Logo FB" descr="Facebook logo">
            <a:hlinkClick r:id="rId2" tooltip="Software University @ Facebook"/>
            <a:extLst>
              <a:ext uri="{FF2B5EF4-FFF2-40B4-BE49-F238E27FC236}">
                <a16:creationId xmlns:a16="http://schemas.microsoft.com/office/drawing/2014/main" id="{6B2C510E-5EF2-49F6-B926-2BD74CD3C7F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507451" y="4734000"/>
            <a:ext cx="1003954" cy="1017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Logo SoftUni Right" descr="Software University logo">
            <a:hlinkClick r:id="rId4"/>
            <a:extLst>
              <a:ext uri="{FF2B5EF4-FFF2-40B4-BE49-F238E27FC236}">
                <a16:creationId xmlns:a16="http://schemas.microsoft.com/office/drawing/2014/main" id="{F4604840-E810-44B7-9FF1-3B28CD68B75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9350" y="2327308"/>
            <a:ext cx="1192055" cy="1473880"/>
          </a:xfrm>
          <a:prstGeom prst="rect">
            <a:avLst/>
          </a:prstGeom>
        </p:spPr>
      </p:pic>
      <p:pic>
        <p:nvPicPr>
          <p:cNvPr id="16" name="Picture SoftUni Mascot" descr="SoftUni mascot">
            <a:hlinkClick r:id="rId6"/>
            <a:extLst>
              <a:ext uri="{FF2B5EF4-FFF2-40B4-BE49-F238E27FC236}">
                <a16:creationId xmlns:a16="http://schemas.microsoft.com/office/drawing/2014/main" id="{07C965FA-A87E-4824-AFA8-C67AF548A76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81957" y="2584289"/>
            <a:ext cx="2732955" cy="3630993"/>
          </a:xfrm>
          <a:prstGeom prst="rect">
            <a:avLst/>
          </a:prstGeom>
        </p:spPr>
      </p:pic>
      <p:sp>
        <p:nvSpPr>
          <p:cNvPr id="12" name="Slide Body Text">
            <a:extLst>
              <a:ext uri="{FF2B5EF4-FFF2-40B4-BE49-F238E27FC236}">
                <a16:creationId xmlns:a16="http://schemas.microsoft.com/office/drawing/2014/main" id="{0C1F9416-8B6E-46DE-973C-777785E27A26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152410" y="1186307"/>
            <a:ext cx="8688590" cy="5496127"/>
          </a:xfrm>
        </p:spPr>
        <p:txBody>
          <a:bodyPr wrap="square">
            <a:noAutofit/>
          </a:bodyPr>
          <a:lstStyle>
            <a:lvl1pPr latinLnBrk="0">
              <a:buClr>
                <a:schemeClr val="tx1"/>
              </a:buClr>
              <a:defRPr sz="2798"/>
            </a:lvl1pPr>
            <a:lvl2pPr marL="989981" marR="0" indent="-380762" algn="l" defTabSz="1218438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>
                <a:tab pos="282405" algn="l"/>
              </a:tabLst>
              <a:defRPr sz="2800"/>
            </a:lvl2pPr>
            <a:lvl3pPr>
              <a:buClr>
                <a:schemeClr val="tx1"/>
              </a:buClr>
              <a:defRPr/>
            </a:lvl3pPr>
          </a:lstStyle>
          <a:p>
            <a:r>
              <a:rPr lang="en-US" sz="3000" noProof="0" dirty="0"/>
              <a:t>Software University – High-Quality Education, Profession and Job for Software Developers</a:t>
            </a:r>
          </a:p>
          <a:p>
            <a:pPr lvl="1"/>
            <a:r>
              <a:rPr lang="en-US" noProof="1">
                <a:hlinkClick r:id="rId6"/>
              </a:rPr>
              <a:t>softuni.bg</a:t>
            </a:r>
            <a:r>
              <a:rPr lang="en-US" noProof="1"/>
              <a:t> </a:t>
            </a:r>
          </a:p>
          <a:p>
            <a:r>
              <a:rPr lang="en-US" sz="3000" noProof="0" dirty="0"/>
              <a:t>Software University Foundation</a:t>
            </a:r>
          </a:p>
          <a:p>
            <a:pPr lvl="1"/>
            <a:r>
              <a:rPr lang="en-US" noProof="1">
                <a:hlinkClick r:id="rId8"/>
              </a:rPr>
              <a:t>softuni.foundation</a:t>
            </a:r>
            <a:endParaRPr lang="en-US" noProof="1"/>
          </a:p>
          <a:p>
            <a:r>
              <a:rPr lang="en-US" sz="3000" noProof="0" dirty="0"/>
              <a:t>Software University @ Facebook</a:t>
            </a:r>
          </a:p>
          <a:p>
            <a:pPr lvl="1"/>
            <a:r>
              <a:rPr lang="en-US" noProof="1">
                <a:hlinkClick r:id="rId2"/>
              </a:rPr>
              <a:t>facebook.com/SoftwareUniversity</a:t>
            </a:r>
            <a:endParaRPr lang="en-US" noProof="1"/>
          </a:p>
          <a:p>
            <a:r>
              <a:rPr lang="en-US" sz="3000" noProof="0" dirty="0"/>
              <a:t>Software University Forums</a:t>
            </a:r>
          </a:p>
          <a:p>
            <a:pPr lvl="1"/>
            <a:r>
              <a:rPr lang="en-US" noProof="1">
                <a:hlinkClick r:id="rId9"/>
              </a:rPr>
              <a:t>forum.softuni.bg</a:t>
            </a:r>
            <a:endParaRPr lang="en-US" noProof="1"/>
          </a:p>
        </p:txBody>
      </p:sp>
      <p:sp>
        <p:nvSpPr>
          <p:cNvPr id="10" name="Rectangle Top">
            <a:extLst>
              <a:ext uri="{FF2B5EF4-FFF2-40B4-BE49-F238E27FC236}">
                <a16:creationId xmlns:a16="http://schemas.microsoft.com/office/drawing/2014/main" id="{86646B95-5E3B-4DE8-9118-031C2C296D8C}"/>
              </a:ext>
            </a:extLst>
          </p:cNvPr>
          <p:cNvSpPr/>
          <p:nvPr userDrawn="1"/>
        </p:nvSpPr>
        <p:spPr>
          <a:xfrm>
            <a:off x="0" y="0"/>
            <a:ext cx="12195176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58AB1944-B146-4E89-B2D9-426EB610F319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8" name="Slide Title">
            <a:extLst>
              <a:ext uri="{FF2B5EF4-FFF2-40B4-BE49-F238E27FC236}">
                <a16:creationId xmlns:a16="http://schemas.microsoft.com/office/drawing/2014/main" id="{AE87ED9C-76E1-4D85-9B06-3AF44AABB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286" y="108873"/>
            <a:ext cx="9742626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Trainings @ Software University (SoftUni)</a:t>
            </a:r>
          </a:p>
        </p:txBody>
      </p:sp>
    </p:spTree>
    <p:extLst>
      <p:ext uri="{BB962C8B-B14F-4D97-AF65-F5344CB8AC3E}">
        <p14:creationId xmlns:p14="http://schemas.microsoft.com/office/powerpoint/2010/main" val="2196466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3C145-EA12-94EF-AA17-5F628EA0AD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B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55E72E-5B45-B6EE-75AE-03B188AD9A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C6A8EA-0240-01AB-A7C2-BD1CD885E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2F75B-1C4E-1E47-AE31-5B79E79ADF4F}" type="datetimeFigureOut">
              <a:rPr lang="en-BG" smtClean="0"/>
              <a:t>9/7/24</a:t>
            </a:fld>
            <a:endParaRPr lang="en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CBF96-4249-1541-E44E-FBCECA233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B54F2-814F-F79B-8CD7-FA3133365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CCE35-F5E1-7541-B177-7204A9BB7A19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969405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Background" descr="SoftUni Background">
            <a:extLst>
              <a:ext uri="{FF2B5EF4-FFF2-40B4-BE49-F238E27FC236}">
                <a16:creationId xmlns:a16="http://schemas.microsoft.com/office/drawing/2014/main" id="{5BE90A63-DDD9-4B3B-A234-DF69B9BC81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/>
          <a:srcRect b="1672"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9" r:id="rId2"/>
    <p:sldLayoutId id="2147483681" r:id="rId3"/>
    <p:sldLayoutId id="2147483691" r:id="rId4"/>
    <p:sldLayoutId id="2147483680" r:id="rId5"/>
    <p:sldLayoutId id="2147483688" r:id="rId6"/>
    <p:sldLayoutId id="2147483684" r:id="rId7"/>
    <p:sldLayoutId id="2147483677" r:id="rId8"/>
    <p:sldLayoutId id="2147483683" r:id="rId9"/>
    <p:sldLayoutId id="2147483685" r:id="rId10"/>
    <p:sldLayoutId id="2147483686" r:id="rId11"/>
    <p:sldLayoutId id="2147483687" r:id="rId12"/>
    <p:sldLayoutId id="2147483692" r:id="rId13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hyperlink" Target="https://softuni.bg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13" Type="http://schemas.openxmlformats.org/officeDocument/2006/relationships/image" Target="../media/image42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5" Type="http://schemas.openxmlformats.org/officeDocument/2006/relationships/image" Target="../media/image44.png"/><Relationship Id="rId10" Type="http://schemas.openxmlformats.org/officeDocument/2006/relationships/image" Target="../media/image39.sv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5.png"/><Relationship Id="rId4" Type="http://schemas.openxmlformats.org/officeDocument/2006/relationships/hyperlink" Target="https://softuni.bg/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bg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www.facebook.com/SoftwareUniversity" TargetMode="External"/><Relationship Id="rId4" Type="http://schemas.openxmlformats.org/officeDocument/2006/relationships/hyperlink" Target="https://softuni.foundatio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bg-BG" dirty="0"/>
              <a:t>Прости повторения с </a:t>
            </a:r>
            <a:r>
              <a:rPr lang="en-US" dirty="0"/>
              <a:t>While-</a:t>
            </a:r>
            <a:r>
              <a:rPr lang="bg-BG" dirty="0"/>
              <a:t>цикъл</a:t>
            </a: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Повторения (цикли)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0D3D29C-BAF5-4006-8125-0CCBDDF50E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019" y="2496258"/>
            <a:ext cx="2212117" cy="551743"/>
          </a:xfrm>
          <a:prstGeom prst="rect">
            <a:avLst/>
          </a:prstGeom>
        </p:spPr>
      </p:pic>
      <p:sp>
        <p:nvSpPr>
          <p:cNvPr id="29" name="Text Placeholder 11"/>
          <p:cNvSpPr>
            <a:spLocks noGrp="1"/>
          </p:cNvSpPr>
          <p:nvPr>
            <p:ph type="body" sz="quarter" idx="20"/>
          </p:nvPr>
        </p:nvSpPr>
        <p:spPr>
          <a:xfrm>
            <a:off x="9906000" y="6182778"/>
            <a:ext cx="1842040" cy="351754"/>
          </a:xfrm>
        </p:spPr>
        <p:txBody>
          <a:bodyPr/>
          <a:lstStyle/>
          <a:p>
            <a:r>
              <a:rPr lang="en-US" sz="1800" dirty="0">
                <a:hlinkClick r:id="rId4"/>
              </a:rPr>
              <a:t>https://softuni.bg</a:t>
            </a:r>
            <a:endParaRPr lang="en-US" sz="1800" dirty="0"/>
          </a:p>
        </p:txBody>
      </p:sp>
      <p:sp>
        <p:nvSpPr>
          <p:cNvPr id="30" name="Text Placeholder 9"/>
          <p:cNvSpPr>
            <a:spLocks noGrp="1"/>
          </p:cNvSpPr>
          <p:nvPr>
            <p:ph type="body" sz="quarter" idx="17"/>
          </p:nvPr>
        </p:nvSpPr>
        <p:spPr>
          <a:xfrm>
            <a:off x="8643191" y="5916124"/>
            <a:ext cx="2950749" cy="382788"/>
          </a:xfrm>
        </p:spPr>
        <p:txBody>
          <a:bodyPr/>
          <a:lstStyle/>
          <a:p>
            <a:r>
              <a:rPr lang="bg-BG" dirty="0"/>
              <a:t>Софтуерен университет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941D5C10-8D10-4D4A-BDC4-202C30EAED2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72561" y="4876928"/>
            <a:ext cx="2950749" cy="506540"/>
          </a:xfrm>
        </p:spPr>
        <p:txBody>
          <a:bodyPr/>
          <a:lstStyle/>
          <a:p>
            <a:r>
              <a:rPr lang="bg-BG" noProof="1"/>
              <a:t>СофтУни</a:t>
            </a:r>
            <a:endParaRPr lang="en-US" noProof="1"/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76A05CC2-FC4D-4504-ABD3-8A2DED65D2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72560" y="5368868"/>
            <a:ext cx="3137440" cy="444536"/>
          </a:xfrm>
        </p:spPr>
        <p:txBody>
          <a:bodyPr/>
          <a:lstStyle/>
          <a:p>
            <a:r>
              <a:rPr lang="bg-BG" noProof="1"/>
              <a:t>Преподавателски</a:t>
            </a:r>
            <a:r>
              <a:rPr lang="bg-BG" dirty="0"/>
              <a:t> екип</a:t>
            </a:r>
            <a:endParaRPr lang="en-US" dirty="0"/>
          </a:p>
        </p:txBody>
      </p:sp>
      <p:pic>
        <p:nvPicPr>
          <p:cNvPr id="12" name="Картина 11">
            <a:extLst>
              <a:ext uri="{FF2B5EF4-FFF2-40B4-BE49-F238E27FC236}">
                <a16:creationId xmlns:a16="http://schemas.microsoft.com/office/drawing/2014/main" id="{9EBD6786-B616-4C4F-9C64-68FB73EB2DF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72000" y="2148726"/>
            <a:ext cx="3048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178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Съдържание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E43DB74-0170-4194-9763-3F41532AF077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7951BB1-F557-4E65-91F5-D0A9D49F4573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>
          <a:xfrm>
            <a:off x="196766" y="1371604"/>
            <a:ext cx="9049234" cy="5207396"/>
          </a:xfrm>
        </p:spPr>
        <p:txBody>
          <a:bodyPr>
            <a:normAutofit/>
          </a:bodyPr>
          <a:lstStyle/>
          <a:p>
            <a:pPr marL="514350" indent="-514350"/>
            <a:r>
              <a:rPr lang="bg-BG" sz="3400" dirty="0"/>
              <a:t>Преговор</a:t>
            </a:r>
            <a:endParaRPr lang="en-US" dirty="0"/>
          </a:p>
          <a:p>
            <a:pPr marL="514350" indent="-514350"/>
            <a:r>
              <a:rPr lang="en-US" dirty="0"/>
              <a:t>While </a:t>
            </a:r>
            <a:r>
              <a:rPr lang="bg-BG" dirty="0"/>
              <a:t>цикъл</a:t>
            </a:r>
            <a:endParaRPr lang="en-US" dirty="0"/>
          </a:p>
          <a:p>
            <a:pPr marL="819096" lvl="1" indent="-514350"/>
            <a:r>
              <a:rPr lang="bg-BG" dirty="0"/>
              <a:t>Конструкция</a:t>
            </a:r>
            <a:endParaRPr lang="en-US" dirty="0"/>
          </a:p>
          <a:p>
            <a:pPr marL="819096" lvl="1" indent="-514350"/>
            <a:r>
              <a:rPr lang="bg-BG" dirty="0">
                <a:latin typeface="+mj-lt"/>
              </a:rPr>
              <a:t>Безкраен </a:t>
            </a:r>
            <a:r>
              <a:rPr lang="en-US" dirty="0">
                <a:latin typeface="+mj-lt"/>
              </a:rPr>
              <a:t>while</a:t>
            </a:r>
            <a:r>
              <a:rPr lang="bg-BG" dirty="0">
                <a:latin typeface="+mj-lt"/>
              </a:rPr>
              <a:t> цикъл</a:t>
            </a:r>
            <a:endParaRPr lang="en-US" dirty="0">
              <a:latin typeface="+mj-lt"/>
            </a:endParaRPr>
          </a:p>
          <a:p>
            <a:pPr marL="819096" lvl="1" indent="-514350"/>
            <a:r>
              <a:rPr lang="bg-BG" dirty="0"/>
              <a:t>Прекъсване на цикъл</a:t>
            </a:r>
            <a:r>
              <a:rPr lang="en-US" dirty="0"/>
              <a:t>	</a:t>
            </a:r>
            <a:endParaRPr lang="bg-BG" dirty="0"/>
          </a:p>
          <a:p>
            <a:pPr marL="819096" lvl="1" indent="-514350"/>
            <a:r>
              <a:rPr lang="bg-BG" dirty="0"/>
              <a:t>Продължаване на цикъл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061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147D2-939E-4AC7-B9F7-D169BACFC51A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dirty="0"/>
              <a:t>Преговор</a:t>
            </a:r>
          </a:p>
        </p:txBody>
      </p:sp>
      <p:pic>
        <p:nvPicPr>
          <p:cNvPr id="1026" name="Picture 2" descr="Ð¡Ð²ÑÑÐ·Ð°Ð½Ð¾ Ð¸Ð·Ð¾Ð±ÑÐ°Ð¶ÐµÐ½Ð¸Ðµ">
            <a:extLst>
              <a:ext uri="{FF2B5EF4-FFF2-40B4-BE49-F238E27FC236}">
                <a16:creationId xmlns:a16="http://schemas.microsoft.com/office/drawing/2014/main" id="{933A1FEE-0D74-4291-9197-45C891F6CF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1" y="1385092"/>
            <a:ext cx="2285999" cy="2285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9975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5383082-8613-4F76-B9D3-514B71488D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4260" y="1190235"/>
            <a:ext cx="11808021" cy="5185625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bg-BG" dirty="0"/>
              <a:t>Какъв ще е резултатът от изпълнението на следния код:</a:t>
            </a:r>
          </a:p>
          <a:p>
            <a:endParaRPr lang="bg-BG" dirty="0"/>
          </a:p>
          <a:p>
            <a:pPr marL="514350" indent="-514350">
              <a:buFont typeface="+mj-lt"/>
              <a:buAutoNum type="arabicPeriod" startAt="4"/>
            </a:pPr>
            <a:endParaRPr lang="bg-BG" dirty="0"/>
          </a:p>
          <a:p>
            <a:endParaRPr lang="bg-BG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0C63803-9C95-487B-B660-EDF01426E5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3300" y="2596451"/>
            <a:ext cx="4904500" cy="2468725"/>
          </a:xfrm>
          <a:solidFill>
            <a:schemeClr val="accent5">
              <a:lumMod val="60000"/>
              <a:lumOff val="40000"/>
              <a:alpha val="1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/>
              <a:t>for (int i = 1; i&lt;=3; )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/>
              <a:t>{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/>
              <a:t>  Console.Write(i);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/>
              <a:t>}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AB5DC8B-CE9B-4DBD-9057-F289D15D9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Преговор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A309E37-E2B9-414A-B29A-6FBF8B960C4F}"/>
              </a:ext>
            </a:extLst>
          </p:cNvPr>
          <p:cNvGrpSpPr/>
          <p:nvPr/>
        </p:nvGrpSpPr>
        <p:grpSpPr>
          <a:xfrm>
            <a:off x="8499275" y="3733801"/>
            <a:ext cx="3151103" cy="1476635"/>
            <a:chOff x="1047227" y="4098001"/>
            <a:chExt cx="5767434" cy="2021280"/>
          </a:xfrm>
          <a:solidFill>
            <a:schemeClr val="tx1">
              <a:lumMod val="40000"/>
              <a:lumOff val="60000"/>
            </a:schemeClr>
          </a:solidFill>
        </p:grpSpPr>
        <p:sp>
          <p:nvSpPr>
            <p:cNvPr id="13" name="Speech Bubble: Rectangle with Corners Rounded 12">
              <a:extLst>
                <a:ext uri="{FF2B5EF4-FFF2-40B4-BE49-F238E27FC236}">
                  <a16:creationId xmlns:a16="http://schemas.microsoft.com/office/drawing/2014/main" id="{2F3C1CB8-FE31-49D8-8150-0025FF81669C}"/>
                </a:ext>
              </a:extLst>
            </p:cNvPr>
            <p:cNvSpPr/>
            <p:nvPr/>
          </p:nvSpPr>
          <p:spPr bwMode="auto">
            <a:xfrm>
              <a:off x="1047227" y="4098001"/>
              <a:ext cx="5767434" cy="2021280"/>
            </a:xfrm>
            <a:prstGeom prst="wedgeRoundRectCallout">
              <a:avLst>
                <a:gd name="adj1" fmla="val -42026"/>
                <a:gd name="adj2" fmla="val 65843"/>
                <a:gd name="adj3" fmla="val 16667"/>
              </a:avLst>
            </a:prstGeom>
            <a:solidFill>
              <a:schemeClr val="tx1">
                <a:lumMod val="60000"/>
                <a:lumOff val="40000"/>
              </a:schemeClr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6988221-874E-4FF7-8580-CD3636623647}"/>
                </a:ext>
              </a:extLst>
            </p:cNvPr>
            <p:cNvSpPr txBox="1"/>
            <p:nvPr/>
          </p:nvSpPr>
          <p:spPr>
            <a:xfrm>
              <a:off x="1321229" y="4297907"/>
              <a:ext cx="5204848" cy="1744485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algn="ctr"/>
              <a:r>
                <a:rPr lang="en-US" sz="3200" dirty="0"/>
                <a:t>Compile time error</a:t>
              </a:r>
              <a:endParaRPr lang="en-US" sz="400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6C13EED-B490-48BB-B5E6-BD0EA6ACE9C4}"/>
              </a:ext>
            </a:extLst>
          </p:cNvPr>
          <p:cNvGrpSpPr/>
          <p:nvPr/>
        </p:nvGrpSpPr>
        <p:grpSpPr>
          <a:xfrm>
            <a:off x="5730747" y="4115757"/>
            <a:ext cx="2610857" cy="1901866"/>
            <a:chOff x="5541569" y="4570824"/>
            <a:chExt cx="3048000" cy="2438818"/>
          </a:xfrm>
          <a:solidFill>
            <a:schemeClr val="tx1">
              <a:lumMod val="60000"/>
              <a:lumOff val="40000"/>
            </a:schemeClr>
          </a:solidFill>
        </p:grpSpPr>
        <p:sp>
          <p:nvSpPr>
            <p:cNvPr id="16" name="Speech Bubble: Oval 15">
              <a:extLst>
                <a:ext uri="{FF2B5EF4-FFF2-40B4-BE49-F238E27FC236}">
                  <a16:creationId xmlns:a16="http://schemas.microsoft.com/office/drawing/2014/main" id="{840CD16A-FA6A-4B07-B359-C42C1B083C6F}"/>
                </a:ext>
              </a:extLst>
            </p:cNvPr>
            <p:cNvSpPr/>
            <p:nvPr/>
          </p:nvSpPr>
          <p:spPr bwMode="auto">
            <a:xfrm>
              <a:off x="5541569" y="4570824"/>
              <a:ext cx="3048000" cy="2438818"/>
            </a:xfrm>
            <a:prstGeom prst="wedgeEllipseCallout">
              <a:avLst>
                <a:gd name="adj1" fmla="val 42709"/>
                <a:gd name="adj2" fmla="val -48571"/>
              </a:avLst>
            </a:prstGeom>
            <a:solidFill>
              <a:schemeClr val="tx1">
                <a:alpha val="80000"/>
              </a:schemeClr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858EFCE-0BDC-40B4-9587-9EA9CF824A7B}"/>
                </a:ext>
              </a:extLst>
            </p:cNvPr>
            <p:cNvSpPr txBox="1"/>
            <p:nvPr/>
          </p:nvSpPr>
          <p:spPr>
            <a:xfrm>
              <a:off x="5915443" y="5330056"/>
              <a:ext cx="1868126" cy="990095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lvl="1"/>
              <a:r>
                <a:rPr lang="en-US" sz="3600" b="1" dirty="0">
                  <a:solidFill>
                    <a:schemeClr val="bg2"/>
                  </a:solidFill>
                </a:rPr>
                <a:t>111</a:t>
              </a:r>
              <a:endParaRPr lang="en-US" sz="2800" b="1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E6A1D6A-A1D4-4185-94E0-BD06FBFEA04C}"/>
              </a:ext>
            </a:extLst>
          </p:cNvPr>
          <p:cNvGrpSpPr/>
          <p:nvPr/>
        </p:nvGrpSpPr>
        <p:grpSpPr>
          <a:xfrm>
            <a:off x="5767940" y="2466816"/>
            <a:ext cx="2542135" cy="1266985"/>
            <a:chOff x="1063130" y="3246971"/>
            <a:chExt cx="4128109" cy="1493675"/>
          </a:xfrm>
          <a:solidFill>
            <a:schemeClr val="tx1">
              <a:lumMod val="20000"/>
              <a:lumOff val="80000"/>
            </a:schemeClr>
          </a:solidFill>
        </p:grpSpPr>
        <p:sp>
          <p:nvSpPr>
            <p:cNvPr id="7" name="Speech Bubble: Rectangle with Corners Rounded 6">
              <a:extLst>
                <a:ext uri="{FF2B5EF4-FFF2-40B4-BE49-F238E27FC236}">
                  <a16:creationId xmlns:a16="http://schemas.microsoft.com/office/drawing/2014/main" id="{17181624-A5B5-4EAC-AF25-BF34A31DC0C9}"/>
                </a:ext>
              </a:extLst>
            </p:cNvPr>
            <p:cNvSpPr/>
            <p:nvPr/>
          </p:nvSpPr>
          <p:spPr bwMode="auto">
            <a:xfrm>
              <a:off x="1063130" y="3246971"/>
              <a:ext cx="4114800" cy="1493675"/>
            </a:xfrm>
            <a:prstGeom prst="wedgeRoundRectCallout">
              <a:avLst>
                <a:gd name="adj1" fmla="val 35039"/>
                <a:gd name="adj2" fmla="val 62263"/>
                <a:gd name="adj3" fmla="val 16667"/>
              </a:avLst>
            </a:prstGeom>
            <a:solidFill>
              <a:schemeClr val="tx1">
                <a:lumMod val="60000"/>
                <a:lumOff val="40000"/>
              </a:schemeClr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91F519D-2770-4771-89D8-3A3F9FC93886}"/>
                </a:ext>
              </a:extLst>
            </p:cNvPr>
            <p:cNvSpPr txBox="1"/>
            <p:nvPr/>
          </p:nvSpPr>
          <p:spPr>
            <a:xfrm>
              <a:off x="1120607" y="3496605"/>
              <a:ext cx="4070632" cy="939659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algn="ctr"/>
              <a:r>
                <a:rPr lang="en-US" dirty="0"/>
                <a:t>123</a:t>
              </a:r>
              <a:endParaRPr lang="en-US" sz="4000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F86B02D-4D4C-480C-AD46-CCEF1FA5684A}"/>
              </a:ext>
            </a:extLst>
          </p:cNvPr>
          <p:cNvGrpSpPr/>
          <p:nvPr/>
        </p:nvGrpSpPr>
        <p:grpSpPr>
          <a:xfrm>
            <a:off x="8553652" y="1937804"/>
            <a:ext cx="2993647" cy="1266985"/>
            <a:chOff x="8967919" y="2302916"/>
            <a:chExt cx="2993647" cy="1266985"/>
          </a:xfrm>
          <a:solidFill>
            <a:schemeClr val="tx1"/>
          </a:solidFill>
        </p:grpSpPr>
        <p:sp>
          <p:nvSpPr>
            <p:cNvPr id="2" name="Speech Bubble: Rectangle with Corners Rounded 1">
              <a:extLst>
                <a:ext uri="{FF2B5EF4-FFF2-40B4-BE49-F238E27FC236}">
                  <a16:creationId xmlns:a16="http://schemas.microsoft.com/office/drawing/2014/main" id="{5929BF1E-D41C-4AE9-BE7D-7543AFD50F3C}"/>
                </a:ext>
              </a:extLst>
            </p:cNvPr>
            <p:cNvSpPr/>
            <p:nvPr/>
          </p:nvSpPr>
          <p:spPr bwMode="auto">
            <a:xfrm>
              <a:off x="8967919" y="2302916"/>
              <a:ext cx="2993647" cy="1266985"/>
            </a:xfrm>
            <a:prstGeom prst="wedgeRoundRectCallout">
              <a:avLst>
                <a:gd name="adj1" fmla="val -34999"/>
                <a:gd name="adj2" fmla="val 68070"/>
                <a:gd name="adj3" fmla="val 16667"/>
              </a:avLst>
            </a:prstGeom>
            <a:grpFill/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A199862-28A4-4375-B144-E298EC356FA9}"/>
                </a:ext>
              </a:extLst>
            </p:cNvPr>
            <p:cNvSpPr txBox="1"/>
            <p:nvPr/>
          </p:nvSpPr>
          <p:spPr>
            <a:xfrm>
              <a:off x="9323406" y="2570536"/>
              <a:ext cx="2424701" cy="725906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algn="l"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3200" b="1" dirty="0">
                  <a:solidFill>
                    <a:schemeClr val="bg2"/>
                  </a:solidFill>
                </a:rPr>
                <a:t>Infinite loop</a:t>
              </a:r>
              <a:endParaRPr lang="en-US" sz="1200" b="1" dirty="0">
                <a:solidFill>
                  <a:schemeClr val="bg2"/>
                </a:solidFill>
              </a:endParaRPr>
            </a:p>
          </p:txBody>
        </p:sp>
      </p:grpSp>
      <p:sp>
        <p:nvSpPr>
          <p:cNvPr id="18" name="Slide Number">
            <a:extLst>
              <a:ext uri="{FF2B5EF4-FFF2-40B4-BE49-F238E27FC236}">
                <a16:creationId xmlns:a16="http://schemas.microsoft.com/office/drawing/2014/main" id="{D999943F-D94F-4103-9FF4-7D40519B0ECD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751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5383082-8613-4F76-B9D3-514B71488D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4260" y="1190235"/>
            <a:ext cx="11808021" cy="5185625"/>
          </a:xfrm>
        </p:spPr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bg-BG" dirty="0"/>
              <a:t>Какъв ще е резултатът от изпълнението на следния код: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0C63803-9C95-487B-B660-EDF01426E5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9176" y="2596451"/>
            <a:ext cx="5731067" cy="2468725"/>
          </a:xfrm>
          <a:solidFill>
            <a:schemeClr val="accent5">
              <a:lumMod val="60000"/>
              <a:lumOff val="40000"/>
              <a:alpha val="1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/>
              <a:t>for(; ;)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/>
              <a:t>{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/>
              <a:t>  Console.Write("SoftUni");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/>
              <a:t>}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AB5DC8B-CE9B-4DBD-9057-F289D15D9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Преговор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6C13EED-B490-48BB-B5E6-BD0EA6ACE9C4}"/>
              </a:ext>
            </a:extLst>
          </p:cNvPr>
          <p:cNvGrpSpPr/>
          <p:nvPr/>
        </p:nvGrpSpPr>
        <p:grpSpPr>
          <a:xfrm>
            <a:off x="8727723" y="4122657"/>
            <a:ext cx="2978422" cy="1927074"/>
            <a:chOff x="5514317" y="4659415"/>
            <a:chExt cx="3048000" cy="2438818"/>
          </a:xfrm>
          <a:solidFill>
            <a:schemeClr val="tx1">
              <a:lumMod val="40000"/>
              <a:lumOff val="60000"/>
            </a:schemeClr>
          </a:solidFill>
        </p:grpSpPr>
        <p:sp>
          <p:nvSpPr>
            <p:cNvPr id="16" name="Speech Bubble: Oval 15">
              <a:extLst>
                <a:ext uri="{FF2B5EF4-FFF2-40B4-BE49-F238E27FC236}">
                  <a16:creationId xmlns:a16="http://schemas.microsoft.com/office/drawing/2014/main" id="{840CD16A-FA6A-4B07-B359-C42C1B083C6F}"/>
                </a:ext>
              </a:extLst>
            </p:cNvPr>
            <p:cNvSpPr/>
            <p:nvPr/>
          </p:nvSpPr>
          <p:spPr bwMode="auto">
            <a:xfrm>
              <a:off x="5514317" y="4659415"/>
              <a:ext cx="3048000" cy="2438818"/>
            </a:xfrm>
            <a:prstGeom prst="wedgeEllipseCallout">
              <a:avLst>
                <a:gd name="adj1" fmla="val -58688"/>
                <a:gd name="adj2" fmla="val -30023"/>
              </a:avLst>
            </a:prstGeom>
            <a:solidFill>
              <a:schemeClr val="tx1">
                <a:lumMod val="60000"/>
                <a:lumOff val="40000"/>
              </a:schemeClr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858EFCE-0BDC-40B4-9587-9EA9CF824A7B}"/>
                </a:ext>
              </a:extLst>
            </p:cNvPr>
            <p:cNvSpPr txBox="1"/>
            <p:nvPr/>
          </p:nvSpPr>
          <p:spPr>
            <a:xfrm>
              <a:off x="5722343" y="5390251"/>
              <a:ext cx="2442993" cy="977144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lvl="1"/>
              <a:r>
                <a:rPr lang="en-US" sz="3600" b="1" dirty="0">
                  <a:solidFill>
                    <a:schemeClr val="bg2"/>
                  </a:solidFill>
                </a:rPr>
                <a:t>SoftUni</a:t>
              </a:r>
              <a:endParaRPr lang="en-US" sz="2800" b="1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E6A1D6A-A1D4-4185-94E0-BD06FBFEA04C}"/>
              </a:ext>
            </a:extLst>
          </p:cNvPr>
          <p:cNvGrpSpPr/>
          <p:nvPr/>
        </p:nvGrpSpPr>
        <p:grpSpPr>
          <a:xfrm>
            <a:off x="5609450" y="2715964"/>
            <a:ext cx="3153550" cy="1246436"/>
            <a:chOff x="874338" y="1992405"/>
            <a:chExt cx="4114800" cy="1493675"/>
          </a:xfrm>
          <a:solidFill>
            <a:schemeClr val="tx1">
              <a:lumMod val="20000"/>
              <a:lumOff val="80000"/>
            </a:schemeClr>
          </a:solidFill>
        </p:grpSpPr>
        <p:sp>
          <p:nvSpPr>
            <p:cNvPr id="7" name="Speech Bubble: Rectangle with Corners Rounded 6">
              <a:extLst>
                <a:ext uri="{FF2B5EF4-FFF2-40B4-BE49-F238E27FC236}">
                  <a16:creationId xmlns:a16="http://schemas.microsoft.com/office/drawing/2014/main" id="{17181624-A5B5-4EAC-AF25-BF34A31DC0C9}"/>
                </a:ext>
              </a:extLst>
            </p:cNvPr>
            <p:cNvSpPr/>
            <p:nvPr/>
          </p:nvSpPr>
          <p:spPr bwMode="auto">
            <a:xfrm>
              <a:off x="874338" y="1992405"/>
              <a:ext cx="4114800" cy="1493675"/>
            </a:xfrm>
            <a:prstGeom prst="wedgeRoundRectCallout">
              <a:avLst>
                <a:gd name="adj1" fmla="val 37425"/>
                <a:gd name="adj2" fmla="val 65243"/>
                <a:gd name="adj3" fmla="val 16667"/>
              </a:avLst>
            </a:prstGeom>
            <a:solidFill>
              <a:schemeClr val="tx1">
                <a:lumMod val="60000"/>
                <a:lumOff val="40000"/>
              </a:schemeClr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91F519D-2770-4771-89D8-3A3F9FC93886}"/>
                </a:ext>
              </a:extLst>
            </p:cNvPr>
            <p:cNvSpPr txBox="1"/>
            <p:nvPr/>
          </p:nvSpPr>
          <p:spPr>
            <a:xfrm>
              <a:off x="918506" y="2269412"/>
              <a:ext cx="4070632" cy="95515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algn="ctr"/>
              <a:r>
                <a:rPr lang="en-US" dirty="0"/>
                <a:t>Infinite loop</a:t>
              </a:r>
              <a:endParaRPr lang="en-US" sz="4000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F86B02D-4D4C-480C-AD46-CCEF1FA5684A}"/>
              </a:ext>
            </a:extLst>
          </p:cNvPr>
          <p:cNvGrpSpPr/>
          <p:nvPr/>
        </p:nvGrpSpPr>
        <p:grpSpPr>
          <a:xfrm>
            <a:off x="8963560" y="2209801"/>
            <a:ext cx="3028720" cy="1295309"/>
            <a:chOff x="9009082" y="2321375"/>
            <a:chExt cx="2993647" cy="1266985"/>
          </a:xfrm>
          <a:solidFill>
            <a:schemeClr val="tx1"/>
          </a:solidFill>
        </p:grpSpPr>
        <p:sp>
          <p:nvSpPr>
            <p:cNvPr id="2" name="Speech Bubble: Rectangle with Corners Rounded 1">
              <a:extLst>
                <a:ext uri="{FF2B5EF4-FFF2-40B4-BE49-F238E27FC236}">
                  <a16:creationId xmlns:a16="http://schemas.microsoft.com/office/drawing/2014/main" id="{5929BF1E-D41C-4AE9-BE7D-7543AFD50F3C}"/>
                </a:ext>
              </a:extLst>
            </p:cNvPr>
            <p:cNvSpPr/>
            <p:nvPr/>
          </p:nvSpPr>
          <p:spPr bwMode="auto">
            <a:xfrm>
              <a:off x="9009082" y="2321375"/>
              <a:ext cx="2993647" cy="1266985"/>
            </a:xfrm>
            <a:prstGeom prst="wedgeRoundRectCallout">
              <a:avLst>
                <a:gd name="adj1" fmla="val -34999"/>
                <a:gd name="adj2" fmla="val 73675"/>
                <a:gd name="adj3" fmla="val 16667"/>
              </a:avLst>
            </a:prstGeom>
            <a:grpFill/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A199862-28A4-4375-B144-E298EC356FA9}"/>
                </a:ext>
              </a:extLst>
            </p:cNvPr>
            <p:cNvSpPr txBox="1"/>
            <p:nvPr/>
          </p:nvSpPr>
          <p:spPr>
            <a:xfrm>
              <a:off x="9196890" y="2602988"/>
              <a:ext cx="2658116" cy="725906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algn="l"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3200" b="1" dirty="0">
                  <a:solidFill>
                    <a:schemeClr val="bg2"/>
                  </a:solidFill>
                </a:rPr>
                <a:t>Runtime error</a:t>
              </a:r>
              <a:endParaRPr lang="en-US" sz="1200" b="1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A309E37-E2B9-414A-B29A-6FBF8B960C4F}"/>
              </a:ext>
            </a:extLst>
          </p:cNvPr>
          <p:cNvGrpSpPr/>
          <p:nvPr/>
        </p:nvGrpSpPr>
        <p:grpSpPr>
          <a:xfrm>
            <a:off x="5562601" y="4477281"/>
            <a:ext cx="2722115" cy="1318666"/>
            <a:chOff x="1039935" y="4225124"/>
            <a:chExt cx="5767434" cy="2021280"/>
          </a:xfrm>
          <a:solidFill>
            <a:schemeClr val="tx1">
              <a:lumMod val="60000"/>
              <a:lumOff val="40000"/>
            </a:schemeClr>
          </a:solidFill>
        </p:grpSpPr>
        <p:sp>
          <p:nvSpPr>
            <p:cNvPr id="13" name="Speech Bubble: Rectangle with Corners Rounded 12">
              <a:extLst>
                <a:ext uri="{FF2B5EF4-FFF2-40B4-BE49-F238E27FC236}">
                  <a16:creationId xmlns:a16="http://schemas.microsoft.com/office/drawing/2014/main" id="{2F3C1CB8-FE31-49D8-8150-0025FF81669C}"/>
                </a:ext>
              </a:extLst>
            </p:cNvPr>
            <p:cNvSpPr/>
            <p:nvPr/>
          </p:nvSpPr>
          <p:spPr bwMode="auto">
            <a:xfrm>
              <a:off x="1039935" y="4225124"/>
              <a:ext cx="5767434" cy="2021280"/>
            </a:xfrm>
            <a:prstGeom prst="wedgeRoundRectCallout">
              <a:avLst>
                <a:gd name="adj1" fmla="val 42283"/>
                <a:gd name="adj2" fmla="val 60997"/>
                <a:gd name="adj3" fmla="val 16667"/>
              </a:avLst>
            </a:prstGeom>
            <a:solidFill>
              <a:schemeClr val="tx1">
                <a:alpha val="80000"/>
              </a:schemeClr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6988221-874E-4FF7-8580-CD3636623647}"/>
                </a:ext>
              </a:extLst>
            </p:cNvPr>
            <p:cNvSpPr txBox="1"/>
            <p:nvPr/>
          </p:nvSpPr>
          <p:spPr>
            <a:xfrm>
              <a:off x="1321229" y="4297907"/>
              <a:ext cx="5204848" cy="1744485"/>
            </a:xfrm>
            <a:prstGeom prst="rect">
              <a:avLst/>
            </a:prstGeom>
            <a:noFill/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defRPr sz="2800" b="1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dirty="0"/>
                <a:t>Compile time error</a:t>
              </a:r>
            </a:p>
          </p:txBody>
        </p:sp>
      </p:grpSp>
      <p:sp>
        <p:nvSpPr>
          <p:cNvPr id="18" name="Slide Number">
            <a:extLst>
              <a:ext uri="{FF2B5EF4-FFF2-40B4-BE49-F238E27FC236}">
                <a16:creationId xmlns:a16="http://schemas.microsoft.com/office/drawing/2014/main" id="{BC6E1BBA-E90E-4BAE-B499-4C0AB869EDF3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531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5383082-8613-4F76-B9D3-514B71488D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4260" y="1190235"/>
            <a:ext cx="11808021" cy="5185625"/>
          </a:xfrm>
        </p:spPr>
        <p:txBody>
          <a:bodyPr/>
          <a:lstStyle/>
          <a:p>
            <a:r>
              <a:rPr lang="bg-BG" dirty="0"/>
              <a:t>3. Какъв ще е резултатът от изпълнението на следния код: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0C63803-9C95-487B-B660-EDF01426E5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3300" y="2596451"/>
            <a:ext cx="6352300" cy="2360234"/>
          </a:xfrm>
          <a:solidFill>
            <a:schemeClr val="accent5">
              <a:lumMod val="60000"/>
              <a:lumOff val="40000"/>
              <a:alpha val="1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/>
          <a:p>
            <a:pPr fontAlgn="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600" dirty="0"/>
              <a:t>for (int i = 0; i &lt; 2; i += 0.5) </a:t>
            </a:r>
          </a:p>
          <a:p>
            <a:pPr fontAlgn="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600" dirty="0"/>
              <a:t>{</a:t>
            </a:r>
          </a:p>
          <a:p>
            <a:pPr fontAlgn="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600" dirty="0"/>
              <a:t>  Console.Write(i + ", ");</a:t>
            </a:r>
          </a:p>
          <a:p>
            <a:pPr fontAlgn="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600" dirty="0"/>
              <a:t>}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AB5DC8B-CE9B-4DBD-9057-F289D15D9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Преговор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A309E37-E2B9-414A-B29A-6FBF8B960C4F}"/>
              </a:ext>
            </a:extLst>
          </p:cNvPr>
          <p:cNvGrpSpPr/>
          <p:nvPr/>
        </p:nvGrpSpPr>
        <p:grpSpPr>
          <a:xfrm>
            <a:off x="8841178" y="3783047"/>
            <a:ext cx="3151103" cy="1444543"/>
            <a:chOff x="1047227" y="4098001"/>
            <a:chExt cx="5767434" cy="2021280"/>
          </a:xfrm>
          <a:solidFill>
            <a:schemeClr val="tx1">
              <a:lumMod val="40000"/>
              <a:lumOff val="60000"/>
            </a:schemeClr>
          </a:solidFill>
        </p:grpSpPr>
        <p:sp>
          <p:nvSpPr>
            <p:cNvPr id="13" name="Speech Bubble: Rectangle with Corners Rounded 12">
              <a:extLst>
                <a:ext uri="{FF2B5EF4-FFF2-40B4-BE49-F238E27FC236}">
                  <a16:creationId xmlns:a16="http://schemas.microsoft.com/office/drawing/2014/main" id="{2F3C1CB8-FE31-49D8-8150-0025FF81669C}"/>
                </a:ext>
              </a:extLst>
            </p:cNvPr>
            <p:cNvSpPr/>
            <p:nvPr/>
          </p:nvSpPr>
          <p:spPr bwMode="auto">
            <a:xfrm>
              <a:off x="1047227" y="4098001"/>
              <a:ext cx="5767434" cy="2021280"/>
            </a:xfrm>
            <a:prstGeom prst="wedgeRoundRectCallout">
              <a:avLst>
                <a:gd name="adj1" fmla="val -33574"/>
                <a:gd name="adj2" fmla="val 65228"/>
                <a:gd name="adj3" fmla="val 16667"/>
              </a:avLst>
            </a:prstGeom>
            <a:solidFill>
              <a:schemeClr val="tx1">
                <a:lumMod val="60000"/>
                <a:lumOff val="40000"/>
              </a:schemeClr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6988221-874E-4FF7-8580-CD3636623647}"/>
                </a:ext>
              </a:extLst>
            </p:cNvPr>
            <p:cNvSpPr txBox="1"/>
            <p:nvPr/>
          </p:nvSpPr>
          <p:spPr>
            <a:xfrm>
              <a:off x="1321229" y="4268704"/>
              <a:ext cx="5204848" cy="1783241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algn="ctr"/>
              <a:r>
                <a:rPr lang="en-US" sz="3200" dirty="0"/>
                <a:t>Compile time error</a:t>
              </a:r>
              <a:endParaRPr lang="en-US" sz="400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6C13EED-B490-48BB-B5E6-BD0EA6ACE9C4}"/>
              </a:ext>
            </a:extLst>
          </p:cNvPr>
          <p:cNvGrpSpPr/>
          <p:nvPr/>
        </p:nvGrpSpPr>
        <p:grpSpPr>
          <a:xfrm>
            <a:off x="5956640" y="2830633"/>
            <a:ext cx="2556445" cy="1712733"/>
            <a:chOff x="5541569" y="4570824"/>
            <a:chExt cx="2738746" cy="2164616"/>
          </a:xfrm>
          <a:solidFill>
            <a:schemeClr val="tx1">
              <a:lumMod val="20000"/>
              <a:lumOff val="80000"/>
            </a:schemeClr>
          </a:solidFill>
        </p:grpSpPr>
        <p:sp>
          <p:nvSpPr>
            <p:cNvPr id="16" name="Speech Bubble: Oval 15">
              <a:extLst>
                <a:ext uri="{FF2B5EF4-FFF2-40B4-BE49-F238E27FC236}">
                  <a16:creationId xmlns:a16="http://schemas.microsoft.com/office/drawing/2014/main" id="{840CD16A-FA6A-4B07-B359-C42C1B083C6F}"/>
                </a:ext>
              </a:extLst>
            </p:cNvPr>
            <p:cNvSpPr/>
            <p:nvPr/>
          </p:nvSpPr>
          <p:spPr bwMode="auto">
            <a:xfrm>
              <a:off x="5541569" y="4570824"/>
              <a:ext cx="2738746" cy="2164616"/>
            </a:xfrm>
            <a:prstGeom prst="wedgeEllipseCallout">
              <a:avLst>
                <a:gd name="adj1" fmla="val 45395"/>
                <a:gd name="adj2" fmla="val 44565"/>
              </a:avLst>
            </a:prstGeom>
            <a:solidFill>
              <a:schemeClr val="tx1">
                <a:lumMod val="60000"/>
                <a:lumOff val="40000"/>
              </a:schemeClr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858EFCE-0BDC-40B4-9587-9EA9CF824A7B}"/>
                </a:ext>
              </a:extLst>
            </p:cNvPr>
            <p:cNvSpPr txBox="1"/>
            <p:nvPr/>
          </p:nvSpPr>
          <p:spPr>
            <a:xfrm>
              <a:off x="5874217" y="5182145"/>
              <a:ext cx="1696799" cy="975818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lvl="1"/>
              <a:r>
                <a:rPr lang="en-US" sz="3600" b="1" dirty="0">
                  <a:solidFill>
                    <a:schemeClr val="bg2"/>
                  </a:solidFill>
                </a:rPr>
                <a:t>0, 1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E6A1D6A-A1D4-4185-94E0-BD06FBFEA04C}"/>
              </a:ext>
            </a:extLst>
          </p:cNvPr>
          <p:cNvGrpSpPr/>
          <p:nvPr/>
        </p:nvGrpSpPr>
        <p:grpSpPr>
          <a:xfrm>
            <a:off x="8375346" y="1981201"/>
            <a:ext cx="3521458" cy="1262937"/>
            <a:chOff x="1063130" y="3170974"/>
            <a:chExt cx="4114800" cy="1493675"/>
          </a:xfrm>
          <a:solidFill>
            <a:schemeClr val="tx1"/>
          </a:solidFill>
        </p:grpSpPr>
        <p:sp>
          <p:nvSpPr>
            <p:cNvPr id="7" name="Speech Bubble: Rectangle with Corners Rounded 6">
              <a:extLst>
                <a:ext uri="{FF2B5EF4-FFF2-40B4-BE49-F238E27FC236}">
                  <a16:creationId xmlns:a16="http://schemas.microsoft.com/office/drawing/2014/main" id="{17181624-A5B5-4EAC-AF25-BF34A31DC0C9}"/>
                </a:ext>
              </a:extLst>
            </p:cNvPr>
            <p:cNvSpPr/>
            <p:nvPr/>
          </p:nvSpPr>
          <p:spPr bwMode="auto">
            <a:xfrm>
              <a:off x="1063130" y="3170974"/>
              <a:ext cx="4114800" cy="1493675"/>
            </a:xfrm>
            <a:prstGeom prst="wedgeRoundRectCallout">
              <a:avLst>
                <a:gd name="adj1" fmla="val -41321"/>
                <a:gd name="adj2" fmla="val 79268"/>
                <a:gd name="adj3" fmla="val 16667"/>
              </a:avLst>
            </a:prstGeom>
            <a:grpFill/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91F519D-2770-4771-89D8-3A3F9FC93886}"/>
                </a:ext>
              </a:extLst>
            </p:cNvPr>
            <p:cNvSpPr txBox="1"/>
            <p:nvPr/>
          </p:nvSpPr>
          <p:spPr>
            <a:xfrm>
              <a:off x="1279548" y="3455817"/>
              <a:ext cx="3601411" cy="866608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algn="ctr"/>
              <a:r>
                <a:rPr lang="en-US" sz="3200" dirty="0"/>
                <a:t>0, 0.5, 1, 1.5</a:t>
              </a:r>
              <a:endParaRPr lang="en-US" sz="2400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F86B02D-4D4C-480C-AD46-CCEF1FA5684A}"/>
              </a:ext>
            </a:extLst>
          </p:cNvPr>
          <p:cNvGrpSpPr/>
          <p:nvPr/>
        </p:nvGrpSpPr>
        <p:grpSpPr>
          <a:xfrm>
            <a:off x="5546894" y="4862956"/>
            <a:ext cx="2993647" cy="1266985"/>
            <a:chOff x="8967919" y="2302916"/>
            <a:chExt cx="2993647" cy="1266985"/>
          </a:xfrm>
          <a:solidFill>
            <a:schemeClr val="tx1">
              <a:lumMod val="60000"/>
              <a:lumOff val="40000"/>
            </a:schemeClr>
          </a:solidFill>
        </p:grpSpPr>
        <p:sp>
          <p:nvSpPr>
            <p:cNvPr id="2" name="Speech Bubble: Rectangle with Corners Rounded 1">
              <a:extLst>
                <a:ext uri="{FF2B5EF4-FFF2-40B4-BE49-F238E27FC236}">
                  <a16:creationId xmlns:a16="http://schemas.microsoft.com/office/drawing/2014/main" id="{5929BF1E-D41C-4AE9-BE7D-7543AFD50F3C}"/>
                </a:ext>
              </a:extLst>
            </p:cNvPr>
            <p:cNvSpPr/>
            <p:nvPr/>
          </p:nvSpPr>
          <p:spPr bwMode="auto">
            <a:xfrm>
              <a:off x="8967919" y="2302916"/>
              <a:ext cx="2993647" cy="1266985"/>
            </a:xfrm>
            <a:prstGeom prst="wedgeRoundRectCallout">
              <a:avLst>
                <a:gd name="adj1" fmla="val -2476"/>
                <a:gd name="adj2" fmla="val -67725"/>
                <a:gd name="adj3" fmla="val 16667"/>
              </a:avLst>
            </a:prstGeom>
            <a:solidFill>
              <a:schemeClr val="tx1">
                <a:alpha val="80000"/>
              </a:schemeClr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A199862-28A4-4375-B144-E298EC356FA9}"/>
                </a:ext>
              </a:extLst>
            </p:cNvPr>
            <p:cNvSpPr txBox="1"/>
            <p:nvPr/>
          </p:nvSpPr>
          <p:spPr>
            <a:xfrm>
              <a:off x="9245387" y="2570633"/>
              <a:ext cx="2365093" cy="725906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algn="l"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3200" b="1" dirty="0">
                  <a:solidFill>
                    <a:schemeClr val="bg2"/>
                  </a:solidFill>
                </a:rPr>
                <a:t>Infinite loop</a:t>
              </a:r>
              <a:endParaRPr lang="en-US" sz="1200" b="1" dirty="0">
                <a:solidFill>
                  <a:schemeClr val="bg2"/>
                </a:solidFill>
              </a:endParaRPr>
            </a:p>
          </p:txBody>
        </p:sp>
      </p:grpSp>
      <p:sp>
        <p:nvSpPr>
          <p:cNvPr id="18" name="Slide Number">
            <a:extLst>
              <a:ext uri="{FF2B5EF4-FFF2-40B4-BE49-F238E27FC236}">
                <a16:creationId xmlns:a16="http://schemas.microsoft.com/office/drawing/2014/main" id="{4A4BD318-71BD-4C7B-8BCC-AD0EC38BD936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8770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DA9AC-DDF4-401D-A66B-A855835E36C7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dirty="0"/>
              <a:t>While</a:t>
            </a:r>
            <a:r>
              <a:rPr lang="bg-BG" dirty="0"/>
              <a:t> цикъл</a:t>
            </a:r>
          </a:p>
        </p:txBody>
      </p:sp>
      <p:sp>
        <p:nvSpPr>
          <p:cNvPr id="3" name="Текстово поле 2"/>
          <p:cNvSpPr txBox="1"/>
          <p:nvPr/>
        </p:nvSpPr>
        <p:spPr>
          <a:xfrm>
            <a:off x="4788417" y="2057401"/>
            <a:ext cx="2615167" cy="1273719"/>
          </a:xfrm>
          <a:prstGeom prst="rect">
            <a:avLst/>
          </a:prstGeom>
          <a:solidFill>
            <a:schemeClr val="tx1">
              <a:alpha val="15000"/>
            </a:schemeClr>
          </a:solidFill>
          <a:ln w="12700">
            <a:noFill/>
          </a:ln>
        </p:spPr>
        <p:txBody>
          <a:bodyPr vert="horz" wrap="none" lIns="144000" tIns="108000" rIns="144000" bIns="108000" rtlCol="0">
            <a:spAutoFit/>
          </a:bodyPr>
          <a:lstStyle/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6600" b="1" dirty="0">
                <a:solidFill>
                  <a:schemeClr val="bg2"/>
                </a:solidFill>
                <a:latin typeface="Consolas" panose="020B0609020204030204" pitchFamily="49" charset="0"/>
              </a:rPr>
              <a:t>while</a:t>
            </a:r>
            <a:endParaRPr lang="bg-BG" sz="6600" b="1" dirty="0">
              <a:solidFill>
                <a:schemeClr val="bg2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2862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atinLnBrk="0">
              <a:lnSpc>
                <a:spcPct val="100000"/>
              </a:lnSpc>
            </a:pPr>
            <a:r>
              <a:rPr lang="bg-BG" sz="3200" dirty="0"/>
              <a:t>В програмирането често се налага да изпълним блок с команди няколко пъти</a:t>
            </a:r>
          </a:p>
          <a:p>
            <a:pPr lvl="1" latinLnBrk="0">
              <a:lnSpc>
                <a:spcPct val="100000"/>
              </a:lnSpc>
            </a:pPr>
            <a:r>
              <a:rPr lang="bg-BG" sz="3200" dirty="0"/>
              <a:t>За целта използваме </a:t>
            </a:r>
            <a:r>
              <a:rPr lang="bg-BG" sz="3000" b="1" dirty="0"/>
              <a:t>цикли</a:t>
            </a:r>
            <a:r>
              <a:rPr lang="bg-BG" sz="3000" dirty="0"/>
              <a:t> </a:t>
            </a:r>
            <a:r>
              <a:rPr lang="bg-BG" sz="3000" dirty="0">
                <a:solidFill>
                  <a:schemeClr val="tx2">
                    <a:lumMod val="75000"/>
                  </a:schemeClr>
                </a:solidFill>
              </a:rPr>
              <a:t>– </a:t>
            </a:r>
            <a:r>
              <a:rPr lang="en-US" sz="3000" b="1" dirty="0">
                <a:solidFill>
                  <a:schemeClr val="bg1"/>
                </a:solidFill>
                <a:latin typeface="Consolas" panose="020B0609020204030204" pitchFamily="49" charset="0"/>
              </a:rPr>
              <a:t>while</a:t>
            </a:r>
            <a:r>
              <a:rPr lang="en-US" sz="3000" dirty="0"/>
              <a:t>,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3000" b="1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bg-BG" sz="3000" dirty="0">
                <a:solidFill>
                  <a:schemeClr val="bg1"/>
                </a:solidFill>
                <a:latin typeface="+mj-lt"/>
              </a:rPr>
              <a:t> </a:t>
            </a:r>
            <a:r>
              <a:rPr lang="bg-BG" sz="3200" dirty="0">
                <a:latin typeface="+mj-lt"/>
              </a:rPr>
              <a:t>и други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</a:t>
            </a:r>
            <a:r>
              <a:rPr lang="bg-BG" dirty="0"/>
              <a:t>цикъл</a:t>
            </a:r>
            <a:r>
              <a:rPr lang="en-US" dirty="0"/>
              <a:t> - </a:t>
            </a:r>
            <a:r>
              <a:rPr lang="bg-BG" dirty="0"/>
              <a:t>конструкция</a:t>
            </a:r>
            <a:endParaRPr lang="en-US" dirty="0"/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5BC6D831-5D09-4103-8861-0EE49C883C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1087" y="3785673"/>
            <a:ext cx="3211077" cy="2095638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noProof="1">
                <a:latin typeface="Consolas" pitchFamily="49" charset="0"/>
                <a:cs typeface="Consolas" pitchFamily="49" charset="0"/>
              </a:rPr>
              <a:t>while</a:t>
            </a:r>
            <a:r>
              <a:rPr lang="en-US" sz="3000" b="1" noProof="1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pt-BR" sz="3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pt-BR" sz="3000" b="1" noProof="1">
                <a:latin typeface="Consolas" pitchFamily="49" charset="0"/>
                <a:cs typeface="Consolas" pitchFamily="49" charset="0"/>
              </a:rPr>
              <a:t>...</a:t>
            </a:r>
            <a:r>
              <a:rPr lang="pt-BR" sz="3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)</a:t>
            </a:r>
            <a:r>
              <a:rPr lang="bg-BG" sz="3000" b="1" noProof="1">
                <a:solidFill>
                  <a:srgbClr val="FBEEDC"/>
                </a:solidFill>
                <a:latin typeface="Consolas" pitchFamily="49" charset="0"/>
                <a:cs typeface="Consolas" pitchFamily="49" charset="0"/>
              </a:rPr>
              <a:t> 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sz="3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  <a:endParaRPr lang="bg-BG" sz="30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3000" b="1" noProof="1">
                <a:solidFill>
                  <a:schemeClr val="accent4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bg-BG" sz="3000" b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//</a:t>
            </a:r>
            <a:r>
              <a:rPr lang="en-US" sz="3000" b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code</a:t>
            </a:r>
            <a:endParaRPr lang="pt-BR" sz="3000" b="1" noProof="1">
              <a:solidFill>
                <a:schemeClr val="accent2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sz="3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  <a:endParaRPr lang="bg-BG" sz="30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7" name="AutoShape 7">
            <a:extLst>
              <a:ext uri="{FF2B5EF4-FFF2-40B4-BE49-F238E27FC236}">
                <a16:creationId xmlns:a16="http://schemas.microsoft.com/office/drawing/2014/main" id="{8C25B769-D591-4C93-B1F4-227D9EE909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6588" y="3040149"/>
            <a:ext cx="1752306" cy="583772"/>
          </a:xfrm>
          <a:prstGeom prst="wedgeRoundRectCallout">
            <a:avLst>
              <a:gd name="adj1" fmla="val -45900"/>
              <a:gd name="adj2" fmla="val 98588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chemeClr val="bg2"/>
                </a:solidFill>
              </a:rPr>
              <a:t>Условие</a:t>
            </a:r>
          </a:p>
        </p:txBody>
      </p:sp>
      <p:sp>
        <p:nvSpPr>
          <p:cNvPr id="18" name="AutoShape 7">
            <a:extLst>
              <a:ext uri="{FF2B5EF4-FFF2-40B4-BE49-F238E27FC236}">
                <a16:creationId xmlns:a16="http://schemas.microsoft.com/office/drawing/2014/main" id="{38F5B571-5259-488A-92DE-85416C8C8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6588" y="5241337"/>
            <a:ext cx="3337624" cy="1093612"/>
          </a:xfrm>
          <a:prstGeom prst="wedgeRoundRectCallout">
            <a:avLst>
              <a:gd name="adj1" fmla="val -59338"/>
              <a:gd name="adj2" fmla="val -46975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chemeClr val="bg2"/>
                </a:solidFill>
              </a:rPr>
              <a:t>Код за изпълнение </a:t>
            </a:r>
            <a:r>
              <a:rPr lang="en-US" sz="2800" b="1" dirty="0">
                <a:solidFill>
                  <a:schemeClr val="bg2"/>
                </a:solidFill>
              </a:rPr>
              <a:t>(</a:t>
            </a:r>
            <a:r>
              <a:rPr lang="bg-BG" sz="2800" b="1" dirty="0">
                <a:solidFill>
                  <a:schemeClr val="bg2"/>
                </a:solidFill>
              </a:rPr>
              <a:t>повторение</a:t>
            </a:r>
            <a:r>
              <a:rPr lang="en-US" sz="2800" b="1" dirty="0">
                <a:solidFill>
                  <a:schemeClr val="bg2"/>
                </a:solidFill>
              </a:rPr>
              <a:t>)</a:t>
            </a:r>
            <a:endParaRPr lang="bg-BG" sz="2800" b="1" dirty="0">
              <a:solidFill>
                <a:schemeClr val="bg2"/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B01C168-F6B8-4746-A71C-FC9EB5BF51AA}"/>
              </a:ext>
            </a:extLst>
          </p:cNvPr>
          <p:cNvCxnSpPr/>
          <p:nvPr/>
        </p:nvCxnSpPr>
        <p:spPr>
          <a:xfrm>
            <a:off x="9252632" y="2937361"/>
            <a:ext cx="0" cy="509722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lowchart: Decision 20">
            <a:extLst>
              <a:ext uri="{FF2B5EF4-FFF2-40B4-BE49-F238E27FC236}">
                <a16:creationId xmlns:a16="http://schemas.microsoft.com/office/drawing/2014/main" id="{2CE47D67-5BA9-44D0-B257-77D92294C88B}"/>
              </a:ext>
            </a:extLst>
          </p:cNvPr>
          <p:cNvSpPr/>
          <p:nvPr/>
        </p:nvSpPr>
        <p:spPr>
          <a:xfrm>
            <a:off x="8415028" y="3422342"/>
            <a:ext cx="1675208" cy="1328800"/>
          </a:xfrm>
          <a:prstGeom prst="flowChartDecision">
            <a:avLst/>
          </a:prstGeom>
          <a:solidFill>
            <a:schemeClr val="tx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chemeClr val="bg2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048F4A-6FAB-4A55-B0FD-1A71CABCC934}"/>
              </a:ext>
            </a:extLst>
          </p:cNvPr>
          <p:cNvSpPr txBox="1"/>
          <p:nvPr/>
        </p:nvSpPr>
        <p:spPr>
          <a:xfrm>
            <a:off x="8758418" y="3855909"/>
            <a:ext cx="9911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bg-BG" b="1" dirty="0">
                <a:solidFill>
                  <a:schemeClr val="bg2"/>
                </a:solidFill>
              </a:rPr>
              <a:t>условие</a:t>
            </a:r>
            <a:endParaRPr lang="en-US" b="1" dirty="0">
              <a:solidFill>
                <a:schemeClr val="bg2"/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5D5C714-4F72-43DC-A328-1AC0AFA45E85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9252632" y="4751143"/>
            <a:ext cx="0" cy="54618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4AB8B2C1-4794-4DB0-B91A-4A877777DA02}"/>
              </a:ext>
            </a:extLst>
          </p:cNvPr>
          <p:cNvSpPr/>
          <p:nvPr/>
        </p:nvSpPr>
        <p:spPr>
          <a:xfrm>
            <a:off x="8415028" y="5286872"/>
            <a:ext cx="1675208" cy="775043"/>
          </a:xfrm>
          <a:prstGeom prst="rect">
            <a:avLst/>
          </a:prstGeom>
          <a:solidFill>
            <a:schemeClr val="tx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>
              <a:solidFill>
                <a:schemeClr val="bg2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0606E6B-C3A5-4ED1-8D5F-C7928894E217}"/>
              </a:ext>
            </a:extLst>
          </p:cNvPr>
          <p:cNvSpPr txBox="1"/>
          <p:nvPr/>
        </p:nvSpPr>
        <p:spPr>
          <a:xfrm>
            <a:off x="8710776" y="5421461"/>
            <a:ext cx="10863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bg-BG" b="1" dirty="0">
                <a:solidFill>
                  <a:schemeClr val="bg2"/>
                </a:solidFill>
              </a:rPr>
              <a:t>команди</a:t>
            </a:r>
            <a:endParaRPr lang="en-US" b="1" dirty="0">
              <a:solidFill>
                <a:schemeClr val="bg2"/>
              </a:solidFill>
            </a:endParaRPr>
          </a:p>
        </p:txBody>
      </p:sp>
      <p:cxnSp>
        <p:nvCxnSpPr>
          <p:cNvPr id="26" name="Elbow Connector 18">
            <a:extLst>
              <a:ext uri="{FF2B5EF4-FFF2-40B4-BE49-F238E27FC236}">
                <a16:creationId xmlns:a16="http://schemas.microsoft.com/office/drawing/2014/main" id="{E2948230-CD36-46FA-A8B8-9CD60C9CB3FC}"/>
              </a:ext>
            </a:extLst>
          </p:cNvPr>
          <p:cNvCxnSpPr>
            <a:stCxn id="24" idx="2"/>
            <a:endCxn id="21" idx="1"/>
          </p:cNvCxnSpPr>
          <p:nvPr/>
        </p:nvCxnSpPr>
        <p:spPr>
          <a:xfrm rot="5400000" flipH="1">
            <a:off x="7846244" y="4655526"/>
            <a:ext cx="1975172" cy="837604"/>
          </a:xfrm>
          <a:prstGeom prst="bentConnector4">
            <a:avLst>
              <a:gd name="adj1" fmla="val -18343"/>
              <a:gd name="adj2" fmla="val 167761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19">
            <a:extLst>
              <a:ext uri="{FF2B5EF4-FFF2-40B4-BE49-F238E27FC236}">
                <a16:creationId xmlns:a16="http://schemas.microsoft.com/office/drawing/2014/main" id="{0149F1C6-10FC-4232-8D8F-F82A3CAB7D14}"/>
              </a:ext>
            </a:extLst>
          </p:cNvPr>
          <p:cNvCxnSpPr/>
          <p:nvPr/>
        </p:nvCxnSpPr>
        <p:spPr>
          <a:xfrm rot="16200000" flipH="1">
            <a:off x="9182373" y="4917254"/>
            <a:ext cx="2386947" cy="725923"/>
          </a:xfrm>
          <a:prstGeom prst="bentConnector3">
            <a:avLst>
              <a:gd name="adj1" fmla="val 279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A98BEB0-5ABC-4C8E-8DE2-B3F6715FF6FB}"/>
              </a:ext>
            </a:extLst>
          </p:cNvPr>
          <p:cNvSpPr txBox="1"/>
          <p:nvPr/>
        </p:nvSpPr>
        <p:spPr>
          <a:xfrm>
            <a:off x="9342801" y="4721387"/>
            <a:ext cx="785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b="1" dirty="0"/>
              <a:t>вярно</a:t>
            </a:r>
            <a:endParaRPr lang="en-US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EC8489B-39AD-4B1B-8EF0-69F3D3A189B5}"/>
              </a:ext>
            </a:extLst>
          </p:cNvPr>
          <p:cNvSpPr txBox="1"/>
          <p:nvPr/>
        </p:nvSpPr>
        <p:spPr>
          <a:xfrm>
            <a:off x="10023247" y="3639022"/>
            <a:ext cx="1027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b="1" dirty="0"/>
              <a:t>невярно</a:t>
            </a:r>
            <a:endParaRPr lang="en-US" b="1" dirty="0"/>
          </a:p>
        </p:txBody>
      </p:sp>
      <p:sp>
        <p:nvSpPr>
          <p:cNvPr id="19" name="Slide Number">
            <a:extLst>
              <a:ext uri="{FF2B5EF4-FFF2-40B4-BE49-F238E27FC236}">
                <a16:creationId xmlns:a16="http://schemas.microsoft.com/office/drawing/2014/main" id="{AB3BD9B2-9FA2-4536-A61E-90C63A0948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12124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 animBg="1"/>
      <p:bldP spid="18" grpId="0" animBg="1"/>
      <p:bldP spid="21" grpId="0" animBg="1"/>
      <p:bldP spid="22" grpId="0"/>
      <p:bldP spid="24" grpId="0" animBg="1"/>
      <p:bldP spid="25" grpId="0"/>
      <p:bldP spid="28" grpId="0"/>
      <p:bldP spid="2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</a:t>
            </a:r>
            <a:r>
              <a:rPr lang="bg-BG" dirty="0"/>
              <a:t>цикъл – пример</a:t>
            </a:r>
            <a:endParaRPr lang="en-US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956C384-38D5-421E-AFF5-6F314D3E03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712" y="1932045"/>
            <a:ext cx="6537071" cy="4331955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int a = 5; 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while 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(true) 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  <a:endParaRPr lang="en-US" sz="28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if (a &gt; 10) {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break;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}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Console.WriteLine("a = " + a);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a++;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10" name="AutoShape 7">
            <a:extLst>
              <a:ext uri="{FF2B5EF4-FFF2-40B4-BE49-F238E27FC236}">
                <a16:creationId xmlns:a16="http://schemas.microsoft.com/office/drawing/2014/main" id="{FA44057F-32DF-464A-AA9C-89B84F1217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7936" y="1452494"/>
            <a:ext cx="4358265" cy="1093612"/>
          </a:xfrm>
          <a:prstGeom prst="wedgeRoundRectCallout">
            <a:avLst>
              <a:gd name="adj1" fmla="val -37985"/>
              <a:gd name="adj2" fmla="val 68039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chemeClr val="bg2"/>
                </a:solidFill>
              </a:rPr>
              <a:t>Условие за прекратяване на повторението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A97395F8-D623-4A36-A1D3-7772904E5A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558133" y="2936302"/>
            <a:ext cx="4404485" cy="2309016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Arrow: Right 1">
            <a:extLst>
              <a:ext uri="{FF2B5EF4-FFF2-40B4-BE49-F238E27FC236}">
                <a16:creationId xmlns:a16="http://schemas.microsoft.com/office/drawing/2014/main" id="{092A269E-C79A-4BF3-9A7C-C76800F6D195}"/>
              </a:ext>
            </a:extLst>
          </p:cNvPr>
          <p:cNvSpPr/>
          <p:nvPr/>
        </p:nvSpPr>
        <p:spPr bwMode="auto">
          <a:xfrm>
            <a:off x="6994271" y="3902327"/>
            <a:ext cx="428374" cy="37696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800" dirty="0"/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539A6628-33DD-4CCE-8D55-CD2796A8E1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5047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</a:t>
            </a:r>
            <a:r>
              <a:rPr lang="bg-BG" dirty="0"/>
              <a:t>цикъл – пример</a:t>
            </a:r>
            <a:endParaRPr lang="en-US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956C384-38D5-421E-AFF5-6F314D3E03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1000" y="1835681"/>
            <a:ext cx="8138535" cy="3884140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sz="2800" b="1" noProof="1">
                <a:latin typeface="Consolas" pitchFamily="49" charset="0"/>
                <a:cs typeface="Consolas" pitchFamily="49" charset="0"/>
              </a:rPr>
              <a:t>string input = Console.ReadLine();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28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28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28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while 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(</a:t>
            </a:r>
            <a:r>
              <a:rPr lang="pt-BR" sz="2800" b="1" noProof="1">
                <a:latin typeface="Consolas" pitchFamily="49" charset="0"/>
                <a:cs typeface="Consolas" pitchFamily="49" charset="0"/>
              </a:rPr>
              <a:t>input != </a:t>
            </a:r>
            <a:r>
              <a:rPr lang="bg-BG" sz="2800" b="1" noProof="1">
                <a:latin typeface="Consolas" pitchFamily="49" charset="0"/>
                <a:cs typeface="Consolas" pitchFamily="49" charset="0"/>
              </a:rPr>
              <a:t>"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Stop</a:t>
            </a:r>
            <a:r>
              <a:rPr lang="bg-BG" sz="2800" b="1" noProof="1">
                <a:latin typeface="Consolas" pitchFamily="49" charset="0"/>
                <a:cs typeface="Consolas" pitchFamily="49" charset="0"/>
              </a:rPr>
              <a:t>"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)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  <a:endParaRPr lang="en-US" sz="28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Console.WriteLine(</a:t>
            </a:r>
            <a:r>
              <a:rPr lang="bg-BG" sz="2800" b="1" noProof="1">
                <a:latin typeface="Consolas" pitchFamily="49" charset="0"/>
                <a:cs typeface="Consolas" pitchFamily="49" charset="0"/>
              </a:rPr>
              <a:t>"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Invalid input</a:t>
            </a:r>
            <a:r>
              <a:rPr lang="bg-BG" sz="2800" b="1" noProof="1">
                <a:latin typeface="Consolas" pitchFamily="49" charset="0"/>
                <a:cs typeface="Consolas" pitchFamily="49" charset="0"/>
              </a:rPr>
              <a:t>"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);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</a:t>
            </a:r>
            <a:r>
              <a:rPr lang="pt-BR" sz="2800" b="1" noProof="1">
                <a:latin typeface="Consolas" pitchFamily="49" charset="0"/>
                <a:cs typeface="Consolas" pitchFamily="49" charset="0"/>
              </a:rPr>
              <a:t>input = Console.ReadLine();</a:t>
            </a:r>
            <a:endParaRPr lang="en-US" sz="28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10" name="AutoShape 7">
            <a:extLst>
              <a:ext uri="{FF2B5EF4-FFF2-40B4-BE49-F238E27FC236}">
                <a16:creationId xmlns:a16="http://schemas.microsoft.com/office/drawing/2014/main" id="{42DA5656-96EF-4369-BFA6-0C2937F053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1867" y="2619000"/>
            <a:ext cx="4358265" cy="1093612"/>
          </a:xfrm>
          <a:prstGeom prst="wedgeRoundRectCallout">
            <a:avLst>
              <a:gd name="adj1" fmla="val -37416"/>
              <a:gd name="adj2" fmla="val 63889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chemeClr val="bg2"/>
                </a:solidFill>
              </a:rPr>
              <a:t>Условие за прекратяване на повторението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348E828-7039-430E-B4BD-31351620FF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10</a:t>
            </a:fld>
            <a:endParaRPr lang="en-US" noProof="0" dirty="0"/>
          </a:p>
        </p:txBody>
      </p:sp>
      <p:pic>
        <p:nvPicPr>
          <p:cNvPr id="12" name="Картина 11">
            <a:extLst>
              <a:ext uri="{FF2B5EF4-FFF2-40B4-BE49-F238E27FC236}">
                <a16:creationId xmlns:a16="http://schemas.microsoft.com/office/drawing/2014/main" id="{FBEC7F23-A5FE-4FF1-AB88-0E251F81AD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736685">
            <a:off x="679771" y="3023832"/>
            <a:ext cx="1837458" cy="1507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913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atinLnBrk="0"/>
            <a:r>
              <a:rPr lang="bg-BG" b="1" dirty="0"/>
              <a:t>Безкраен цикъл </a:t>
            </a:r>
            <a:r>
              <a:rPr lang="en-US" dirty="0"/>
              <a:t>– </a:t>
            </a:r>
            <a:r>
              <a:rPr lang="bg-BG" dirty="0"/>
              <a:t>повтаряне на блок от код безкраен брой </a:t>
            </a:r>
            <a:br>
              <a:rPr lang="en-US" dirty="0"/>
            </a:br>
            <a:r>
              <a:rPr lang="bg-BG" dirty="0"/>
              <a:t>пъти:</a:t>
            </a:r>
          </a:p>
          <a:p>
            <a:pPr latinLnBrk="0"/>
            <a:endParaRPr lang="bg-BG" dirty="0"/>
          </a:p>
          <a:p>
            <a:pPr marL="0" indent="0">
              <a:buNone/>
            </a:pPr>
            <a:endParaRPr lang="bg-BG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Безкраен цикъл</a:t>
            </a:r>
            <a:endParaRPr lang="en-US" dirty="0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457201" y="3429000"/>
            <a:ext cx="7619995" cy="1962076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while (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true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)</a:t>
            </a:r>
            <a:r>
              <a:rPr lang="bg-BG" sz="2800" b="1" noProof="1">
                <a:latin typeface="Consolas" pitchFamily="49" charset="0"/>
                <a:cs typeface="Consolas" pitchFamily="49" charset="0"/>
              </a:rPr>
              <a:t> 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 Console.WriteLine("Infinite loop");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11" name="AutoShape 7"/>
          <p:cNvSpPr>
            <a:spLocks noChangeArrowheads="1"/>
          </p:cNvSpPr>
          <p:nvPr/>
        </p:nvSpPr>
        <p:spPr bwMode="auto">
          <a:xfrm>
            <a:off x="2552697" y="2394108"/>
            <a:ext cx="3429000" cy="908001"/>
          </a:xfrm>
          <a:prstGeom prst="wedgeRoundRectCallout">
            <a:avLst>
              <a:gd name="adj1" fmla="val -38288"/>
              <a:gd name="adj2" fmla="val 80993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chemeClr val="bg2"/>
                </a:solidFill>
              </a:rPr>
              <a:t>Условието е винаги вярно</a:t>
            </a:r>
          </a:p>
        </p:txBody>
      </p:sp>
      <p:sp>
        <p:nvSpPr>
          <p:cNvPr id="8" name="Flowchart: Decision 7">
            <a:extLst>
              <a:ext uri="{FF2B5EF4-FFF2-40B4-BE49-F238E27FC236}">
                <a16:creationId xmlns:a16="http://schemas.microsoft.com/office/drawing/2014/main" id="{CD967551-4CE2-4F34-BD31-90BC777B1FE6}"/>
              </a:ext>
            </a:extLst>
          </p:cNvPr>
          <p:cNvSpPr/>
          <p:nvPr/>
        </p:nvSpPr>
        <p:spPr>
          <a:xfrm>
            <a:off x="9372600" y="2254923"/>
            <a:ext cx="2099222" cy="1665134"/>
          </a:xfrm>
          <a:prstGeom prst="flowChartDecision">
            <a:avLst/>
          </a:prstGeom>
          <a:solidFill>
            <a:schemeClr val="tx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chemeClr val="bg2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7D5E66-7AA8-4093-ACB4-AFF3DD171CDA}"/>
              </a:ext>
            </a:extLst>
          </p:cNvPr>
          <p:cNvSpPr txBox="1"/>
          <p:nvPr/>
        </p:nvSpPr>
        <p:spPr>
          <a:xfrm>
            <a:off x="9630771" y="2807388"/>
            <a:ext cx="15828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2400" b="1" dirty="0">
                <a:solidFill>
                  <a:schemeClr val="bg2"/>
                </a:solidFill>
              </a:rPr>
              <a:t>условие</a:t>
            </a:r>
            <a:endParaRPr lang="en-US" sz="2400" b="1" dirty="0">
              <a:solidFill>
                <a:schemeClr val="bg2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CDBF614-FA83-439A-BA3D-83AE00EE1655}"/>
              </a:ext>
            </a:extLst>
          </p:cNvPr>
          <p:cNvCxnSpPr>
            <a:cxnSpLocks/>
          </p:cNvCxnSpPr>
          <p:nvPr/>
        </p:nvCxnSpPr>
        <p:spPr>
          <a:xfrm>
            <a:off x="10422211" y="3643245"/>
            <a:ext cx="0" cy="96124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40AF52B4-595E-49C2-82F0-F461D422382B}"/>
              </a:ext>
            </a:extLst>
          </p:cNvPr>
          <p:cNvSpPr/>
          <p:nvPr/>
        </p:nvSpPr>
        <p:spPr>
          <a:xfrm>
            <a:off x="9372600" y="4591386"/>
            <a:ext cx="2099222" cy="971215"/>
          </a:xfrm>
          <a:prstGeom prst="rect">
            <a:avLst/>
          </a:prstGeom>
          <a:solidFill>
            <a:schemeClr val="tx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chemeClr val="bg2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CB2830-9DE9-42C5-9B7C-2B2455C89939}"/>
              </a:ext>
            </a:extLst>
          </p:cNvPr>
          <p:cNvSpPr txBox="1"/>
          <p:nvPr/>
        </p:nvSpPr>
        <p:spPr>
          <a:xfrm>
            <a:off x="9554183" y="4808643"/>
            <a:ext cx="1739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2400" b="1" dirty="0">
                <a:solidFill>
                  <a:schemeClr val="bg2"/>
                </a:solidFill>
              </a:rPr>
              <a:t>команди</a:t>
            </a:r>
            <a:endParaRPr lang="en-US" sz="2400" b="1" dirty="0">
              <a:solidFill>
                <a:schemeClr val="bg2"/>
              </a:solidFill>
            </a:endParaRPr>
          </a:p>
        </p:txBody>
      </p:sp>
      <p:cxnSp>
        <p:nvCxnSpPr>
          <p:cNvPr id="14" name="Elbow Connector 18">
            <a:extLst>
              <a:ext uri="{FF2B5EF4-FFF2-40B4-BE49-F238E27FC236}">
                <a16:creationId xmlns:a16="http://schemas.microsoft.com/office/drawing/2014/main" id="{70DCD1DC-929F-4AB0-8E1E-C26BA6E8C411}"/>
              </a:ext>
            </a:extLst>
          </p:cNvPr>
          <p:cNvCxnSpPr>
            <a:cxnSpLocks/>
            <a:stCxn id="12" idx="2"/>
            <a:endCxn id="8" idx="1"/>
          </p:cNvCxnSpPr>
          <p:nvPr/>
        </p:nvCxnSpPr>
        <p:spPr>
          <a:xfrm rot="5400000" flipH="1">
            <a:off x="8659850" y="3800241"/>
            <a:ext cx="2475110" cy="1049611"/>
          </a:xfrm>
          <a:prstGeom prst="bentConnector4">
            <a:avLst>
              <a:gd name="adj1" fmla="val -18343"/>
              <a:gd name="adj2" fmla="val 167761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5B7F70E-0192-48D7-9A5E-272458A14269}"/>
              </a:ext>
            </a:extLst>
          </p:cNvPr>
          <p:cNvSpPr txBox="1"/>
          <p:nvPr/>
        </p:nvSpPr>
        <p:spPr>
          <a:xfrm>
            <a:off x="10535200" y="3882771"/>
            <a:ext cx="1199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b="1" dirty="0"/>
              <a:t>вярно</a:t>
            </a:r>
            <a:endParaRPr lang="en-US" b="1" dirty="0"/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FF33863C-27CC-4B52-86E2-F768E17118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2820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 animBg="1"/>
      <p:bldP spid="8" grpId="0" animBg="1"/>
      <p:bldP spid="9" grpId="0"/>
      <p:bldP spid="12" grpId="0" animBg="1"/>
      <p:bldP spid="13" grpId="0"/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C0D06F9-9203-4F5A-A4F8-925CEDDA8A10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dirty="0"/>
              <a:t>Прекъсване чрез оператор </a:t>
            </a:r>
            <a:r>
              <a:rPr lang="en-US" dirty="0">
                <a:latin typeface="Consolas" panose="020B0609020204030204" pitchFamily="49" charset="0"/>
              </a:rPr>
              <a:t>break</a:t>
            </a:r>
            <a:endParaRPr lang="bg-BG" dirty="0">
              <a:latin typeface="Consolas" panose="020B0609020204030204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0C8A035-77B2-4E08-96D7-777F254C840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1600201"/>
            <a:ext cx="2590800" cy="2152371"/>
          </a:xfrm>
          <a:prstGeom prst="rect">
            <a:avLst/>
          </a:prstGeom>
        </p:spPr>
      </p:pic>
      <p:sp>
        <p:nvSpPr>
          <p:cNvPr id="5" name="Subtitle 4">
            <a:extLst>
              <a:ext uri="{FF2B5EF4-FFF2-40B4-BE49-F238E27FC236}">
                <a16:creationId xmlns:a16="http://schemas.microsoft.com/office/drawing/2014/main" id="{82D5FB81-F549-409F-9362-3B26D3C8A94B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/>
              <a:t>Безкрайни цикли</a:t>
            </a:r>
          </a:p>
        </p:txBody>
      </p:sp>
    </p:spTree>
    <p:extLst>
      <p:ext uri="{BB962C8B-B14F-4D97-AF65-F5344CB8AC3E}">
        <p14:creationId xmlns:p14="http://schemas.microsoft.com/office/powerpoint/2010/main" val="2235053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latinLnBrk="0"/>
            <a:r>
              <a:rPr lang="bg-BG" sz="3500" dirty="0"/>
              <a:t>Оператор </a:t>
            </a:r>
            <a:r>
              <a:rPr lang="en-US" sz="3500" b="1" dirty="0">
                <a:solidFill>
                  <a:schemeClr val="bg1"/>
                </a:solidFill>
                <a:latin typeface="Consolas" panose="020B0609020204030204" pitchFamily="49" charset="0"/>
              </a:rPr>
              <a:t>break</a:t>
            </a:r>
            <a:r>
              <a:rPr lang="en-US" sz="3500" dirty="0">
                <a:solidFill>
                  <a:schemeClr val="bg1"/>
                </a:solidFill>
              </a:rPr>
              <a:t> </a:t>
            </a:r>
            <a:r>
              <a:rPr lang="en-US" sz="3500" dirty="0"/>
              <a:t>– </a:t>
            </a:r>
            <a:r>
              <a:rPr lang="bg-BG" sz="3500" dirty="0"/>
              <a:t>прекъсва цикъла</a:t>
            </a:r>
            <a:endParaRPr lang="en-US" dirty="0"/>
          </a:p>
          <a:p>
            <a:pPr latinLnBrk="0"/>
            <a:r>
              <a:rPr lang="bg-BG" sz="3500" dirty="0"/>
              <a:t>Не може да съществува самостоятелно  извън цикъл</a:t>
            </a:r>
            <a:endParaRPr lang="en-US" sz="3500" dirty="0"/>
          </a:p>
          <a:p>
            <a:pPr latinLnBrk="0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Прекратяване на цикъл</a:t>
            </a:r>
            <a:endParaRPr lang="en-US" dirty="0"/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2171700" y="2677280"/>
            <a:ext cx="7848600" cy="3723520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7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while </a:t>
            </a:r>
            <a:r>
              <a:rPr lang="en-US" sz="2700" b="1" noProof="1">
                <a:latin typeface="Consolas" pitchFamily="49" charset="0"/>
                <a:cs typeface="Consolas" pitchFamily="49" charset="0"/>
              </a:rPr>
              <a:t>(true)</a:t>
            </a:r>
            <a:r>
              <a:rPr lang="bg-BG" sz="2700" b="1" noProof="1">
                <a:latin typeface="Consolas" pitchFamily="49" charset="0"/>
                <a:cs typeface="Consolas" pitchFamily="49" charset="0"/>
              </a:rPr>
              <a:t> </a:t>
            </a:r>
            <a:endParaRPr lang="en-US" sz="27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7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700" b="1" noProof="1">
                <a:latin typeface="Consolas" pitchFamily="49" charset="0"/>
                <a:cs typeface="Consolas" pitchFamily="49" charset="0"/>
              </a:rPr>
              <a:t>   Console.WriteLine("Infinite loop");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700" b="1" noProof="1">
                <a:latin typeface="Consolas" pitchFamily="49" charset="0"/>
                <a:cs typeface="Consolas" pitchFamily="49" charset="0"/>
              </a:rPr>
              <a:t>   if (…) 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700" b="1" noProof="1">
                <a:latin typeface="Consolas" pitchFamily="49" charset="0"/>
                <a:cs typeface="Consolas" pitchFamily="49" charset="0"/>
              </a:rPr>
              <a:t>   {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700" b="1" noProof="1">
                <a:latin typeface="Consolas" pitchFamily="49" charset="0"/>
                <a:cs typeface="Consolas" pitchFamily="49" charset="0"/>
              </a:rPr>
              <a:t>	</a:t>
            </a:r>
            <a:r>
              <a:rPr lang="en-US" sz="27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break;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700" b="1" noProof="1">
                <a:latin typeface="Consolas" pitchFamily="49" charset="0"/>
                <a:cs typeface="Consolas" pitchFamily="49" charset="0"/>
              </a:rPr>
              <a:t>   }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7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8" name="AutoShape 7"/>
          <p:cNvSpPr>
            <a:spLocks noChangeArrowheads="1"/>
          </p:cNvSpPr>
          <p:nvPr/>
        </p:nvSpPr>
        <p:spPr bwMode="auto">
          <a:xfrm>
            <a:off x="5029200" y="4419600"/>
            <a:ext cx="4294496" cy="990600"/>
          </a:xfrm>
          <a:prstGeom prst="wedgeRoundRectCallout">
            <a:avLst>
              <a:gd name="adj1" fmla="val -64142"/>
              <a:gd name="adj2" fmla="val -35547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700" b="1" dirty="0">
                <a:solidFill>
                  <a:schemeClr val="bg2"/>
                </a:solidFill>
              </a:rPr>
              <a:t>Условие за прекъсване на цикъла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D26966A1-7FA8-4E23-9962-1210806B59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33555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latinLnBrk="0"/>
            <a:r>
              <a:rPr lang="bg-BG" dirty="0"/>
              <a:t>Напишете програма, която:</a:t>
            </a:r>
          </a:p>
          <a:p>
            <a:pPr lvl="1" latinLnBrk="0"/>
            <a:r>
              <a:rPr lang="bg-BG" dirty="0"/>
              <a:t>Чете от потребителя текст(низ)</a:t>
            </a:r>
          </a:p>
          <a:p>
            <a:pPr lvl="1" latinLnBrk="0"/>
            <a:r>
              <a:rPr lang="bg-BG" dirty="0"/>
              <a:t>Приключва четенето когато получи командата "</a:t>
            </a:r>
            <a:r>
              <a:rPr lang="en-US" dirty="0">
                <a:latin typeface="Consolas" panose="020B0609020204030204" pitchFamily="49" charset="0"/>
              </a:rPr>
              <a:t>Stop</a:t>
            </a:r>
            <a:r>
              <a:rPr lang="bg-BG" dirty="0"/>
              <a:t>"</a:t>
            </a:r>
          </a:p>
          <a:p>
            <a:pPr latinLnBrk="0"/>
            <a:r>
              <a:rPr lang="bg-BG" sz="3200" dirty="0"/>
              <a:t>Примерен вход и изход:</a:t>
            </a:r>
          </a:p>
          <a:p>
            <a:pPr lvl="1" latinLnBrk="0"/>
            <a:endParaRPr lang="en-US" sz="3000" dirty="0"/>
          </a:p>
          <a:p>
            <a:pPr marL="377887" lvl="1" indent="0">
              <a:buNone/>
            </a:pPr>
            <a:endParaRPr lang="bg-BG" sz="3000" dirty="0">
              <a:solidFill>
                <a:schemeClr val="tx2">
                  <a:lumMod val="75000"/>
                </a:schemeClr>
              </a:solidFill>
            </a:endParaRPr>
          </a:p>
          <a:p>
            <a:pPr lvl="2" latinLnBrk="0"/>
            <a:endParaRPr lang="en-US" dirty="0"/>
          </a:p>
          <a:p>
            <a:pPr lvl="2" latinLnBrk="0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Четене на текст – условие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C9D00A-0AA5-487A-887B-5904474B00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8936" y="3886201"/>
            <a:ext cx="2176672" cy="2645595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>
            <a:noAutofit/>
          </a:bodyPr>
          <a:lstStyle/>
          <a:p>
            <a:r>
              <a:rPr lang="en-US" sz="2400" b="1" dirty="0">
                <a:latin typeface="Consolas" panose="020B0609020204030204" pitchFamily="49" charset="0"/>
              </a:rPr>
              <a:t>Nakov</a:t>
            </a:r>
          </a:p>
          <a:p>
            <a:r>
              <a:rPr lang="en-US" sz="2400" b="1" dirty="0">
                <a:latin typeface="Consolas" panose="020B0609020204030204" pitchFamily="49" charset="0"/>
              </a:rPr>
              <a:t>SoftUni</a:t>
            </a:r>
          </a:p>
          <a:p>
            <a:r>
              <a:rPr lang="en-US" sz="2400" b="1" dirty="0">
                <a:latin typeface="Consolas" panose="020B0609020204030204" pitchFamily="49" charset="0"/>
              </a:rPr>
              <a:t>Sofia</a:t>
            </a:r>
          </a:p>
          <a:p>
            <a:r>
              <a:rPr lang="en-US" sz="2400" b="1" dirty="0">
                <a:latin typeface="Consolas" panose="020B0609020204030204" pitchFamily="49" charset="0"/>
              </a:rPr>
              <a:t>Bulgaria</a:t>
            </a:r>
          </a:p>
          <a:p>
            <a:r>
              <a:rPr lang="en-US" sz="2400" b="1" dirty="0">
                <a:latin typeface="Consolas" panose="020B0609020204030204" pitchFamily="49" charset="0"/>
              </a:rPr>
              <a:t>SomeText</a:t>
            </a:r>
          </a:p>
          <a:p>
            <a:r>
              <a:rPr lang="en-US" sz="2400" b="1" dirty="0">
                <a:latin typeface="Consolas" panose="020B0609020204030204" pitchFamily="49" charset="0"/>
              </a:rPr>
              <a:t>Stop</a:t>
            </a:r>
          </a:p>
          <a:p>
            <a:r>
              <a:rPr lang="en-US" sz="2400" b="1" noProof="1">
                <a:latin typeface="Consolas" panose="020B0609020204030204" pitchFamily="49" charset="0"/>
                <a:cs typeface="Consolas" pitchFamily="49" charset="0"/>
              </a:rPr>
              <a:t>AfterStop</a:t>
            </a:r>
          </a:p>
        </p:txBody>
      </p:sp>
      <p:sp>
        <p:nvSpPr>
          <p:cNvPr id="11" name="Right Arrow 11">
            <a:extLst>
              <a:ext uri="{FF2B5EF4-FFF2-40B4-BE49-F238E27FC236}">
                <a16:creationId xmlns:a16="http://schemas.microsoft.com/office/drawing/2014/main" id="{CA100D17-5BE1-4626-AB26-76ED6669B30A}"/>
              </a:ext>
            </a:extLst>
          </p:cNvPr>
          <p:cNvSpPr/>
          <p:nvPr/>
        </p:nvSpPr>
        <p:spPr>
          <a:xfrm>
            <a:off x="5872152" y="5076556"/>
            <a:ext cx="447696" cy="3046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E2647745-4139-41DD-8120-F8C59F530A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6392" y="4258968"/>
            <a:ext cx="2176672" cy="1989432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>
            <a:noAutofit/>
          </a:bodyPr>
          <a:lstStyle/>
          <a:p>
            <a:r>
              <a:rPr lang="en-US" sz="2400" b="1" dirty="0">
                <a:latin typeface="Consolas" panose="020B0609020204030204" pitchFamily="49" charset="0"/>
              </a:rPr>
              <a:t>Nakov</a:t>
            </a:r>
          </a:p>
          <a:p>
            <a:r>
              <a:rPr lang="en-US" sz="2400" b="1" dirty="0">
                <a:latin typeface="Consolas" panose="020B0609020204030204" pitchFamily="49" charset="0"/>
              </a:rPr>
              <a:t>SoftUni</a:t>
            </a:r>
          </a:p>
          <a:p>
            <a:r>
              <a:rPr lang="en-US" sz="2400" b="1" dirty="0">
                <a:latin typeface="Consolas" panose="020B0609020204030204" pitchFamily="49" charset="0"/>
              </a:rPr>
              <a:t>Sofia</a:t>
            </a:r>
          </a:p>
          <a:p>
            <a:r>
              <a:rPr lang="en-US" sz="2400" b="1" dirty="0">
                <a:latin typeface="Consolas" panose="020B0609020204030204" pitchFamily="49" charset="0"/>
              </a:rPr>
              <a:t>Bulgaria</a:t>
            </a:r>
          </a:p>
          <a:p>
            <a:r>
              <a:rPr lang="en-US" sz="2400" b="1" dirty="0">
                <a:latin typeface="Consolas" panose="020B0609020204030204" pitchFamily="49" charset="0"/>
              </a:rPr>
              <a:t>SomeText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CA775054-C31D-43CA-9A4C-300C7F6847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43841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Четене на текст – решение</a:t>
            </a:r>
            <a:endParaRPr lang="en-US" dirty="0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022387E3-FA6A-402A-9CE2-FE3E2838D6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9332" y="1447801"/>
            <a:ext cx="8553336" cy="4524315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while</a:t>
            </a:r>
            <a:r>
              <a:rPr lang="pt-BR" sz="3200" b="1" noProof="1">
                <a:latin typeface="Consolas" pitchFamily="49" charset="0"/>
                <a:cs typeface="Consolas" pitchFamily="49" charset="0"/>
              </a:rPr>
              <a:t> (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true</a:t>
            </a:r>
            <a:r>
              <a:rPr lang="pt-BR" sz="3200" b="1" noProof="1">
                <a:latin typeface="Consolas" pitchFamily="49" charset="0"/>
                <a:cs typeface="Consolas" pitchFamily="49" charset="0"/>
              </a:rPr>
              <a:t>)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pt-BR" sz="3200" b="1" noProof="1">
                <a:latin typeface="Consolas" pitchFamily="49" charset="0"/>
                <a:cs typeface="Consolas" pitchFamily="49" charset="0"/>
              </a:rPr>
              <a:t>string input = Console.ReadLine();</a:t>
            </a:r>
            <a:endParaRPr lang="pt-BR" sz="32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pt-BR" sz="3200" b="1" noProof="1">
                <a:latin typeface="Consolas" pitchFamily="49" charset="0"/>
                <a:cs typeface="Consolas" pitchFamily="49" charset="0"/>
              </a:rPr>
              <a:t>if (input == </a:t>
            </a:r>
            <a:r>
              <a:rPr lang="bg-BG" sz="3200" b="1" noProof="1">
                <a:latin typeface="Consolas" pitchFamily="49" charset="0"/>
                <a:cs typeface="Consolas" pitchFamily="49" charset="0"/>
              </a:rPr>
              <a:t>"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Stop</a:t>
            </a:r>
            <a:r>
              <a:rPr lang="bg-BG" sz="3200" b="1" noProof="1">
                <a:latin typeface="Consolas" pitchFamily="49" charset="0"/>
                <a:cs typeface="Consolas" pitchFamily="49" charset="0"/>
              </a:rPr>
              <a:t>"</a:t>
            </a:r>
            <a:r>
              <a:rPr lang="pt-BR" sz="3200" b="1" noProof="1">
                <a:latin typeface="Consolas" pitchFamily="49" charset="0"/>
                <a:cs typeface="Consolas" pitchFamily="49" charset="0"/>
              </a:rPr>
              <a:t>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sz="3200" b="1" noProof="1">
                <a:latin typeface="Consolas" pitchFamily="49" charset="0"/>
                <a:cs typeface="Consolas" pitchFamily="49" charset="0"/>
              </a:rPr>
              <a:t>  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sz="3200" b="1" noProof="1">
                <a:latin typeface="Consolas" pitchFamily="49" charset="0"/>
                <a:cs typeface="Consolas" pitchFamily="49" charset="0"/>
              </a:rPr>
              <a:t>     </a:t>
            </a:r>
            <a:r>
              <a:rPr lang="pt-BR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break;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sz="3200" b="1" noProof="1">
                <a:latin typeface="Consolas" pitchFamily="49" charset="0"/>
                <a:cs typeface="Consolas" pitchFamily="49" charset="0"/>
              </a:rPr>
              <a:t>  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sz="3200" b="1" noProof="1">
                <a:latin typeface="Consolas" pitchFamily="49" charset="0"/>
                <a:cs typeface="Consolas" pitchFamily="49" charset="0"/>
              </a:rPr>
              <a:t>   Console.WriteLine(input);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D2A74B41-EF81-4999-B3B9-B624954205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91645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latinLnBrk="0"/>
            <a:r>
              <a:rPr lang="bg-BG" dirty="0"/>
              <a:t>Напишете програма, която:</a:t>
            </a:r>
          </a:p>
          <a:p>
            <a:pPr lvl="1"/>
            <a:r>
              <a:rPr lang="bg-BG" dirty="0"/>
              <a:t>Първоначално прочита потребителско име и парола</a:t>
            </a:r>
            <a:r>
              <a:rPr lang="en-US" dirty="0"/>
              <a:t> </a:t>
            </a:r>
            <a:r>
              <a:rPr lang="bg-BG" dirty="0"/>
              <a:t>на </a:t>
            </a:r>
            <a:br>
              <a:rPr lang="bg-BG" dirty="0"/>
            </a:br>
            <a:r>
              <a:rPr lang="bg-BG" dirty="0"/>
              <a:t>потребителски профил</a:t>
            </a:r>
          </a:p>
          <a:p>
            <a:pPr lvl="1"/>
            <a:r>
              <a:rPr lang="bg-BG" dirty="0"/>
              <a:t>Прочита парола за вход и проверява дали е коректна </a:t>
            </a:r>
          </a:p>
          <a:p>
            <a:pPr lvl="1"/>
            <a:r>
              <a:rPr lang="bg-BG" dirty="0"/>
              <a:t>При</a:t>
            </a:r>
            <a:r>
              <a:rPr lang="en-US" dirty="0"/>
              <a:t>:</a:t>
            </a:r>
            <a:endParaRPr lang="bg-BG" dirty="0"/>
          </a:p>
          <a:p>
            <a:pPr lvl="2"/>
            <a:r>
              <a:rPr lang="bg-BG" dirty="0"/>
              <a:t>Невалидна парола, прочита</a:t>
            </a:r>
            <a:r>
              <a:rPr lang="en-US" dirty="0"/>
              <a:t> </a:t>
            </a:r>
            <a:r>
              <a:rPr lang="bg-BG" dirty="0"/>
              <a:t>нова</a:t>
            </a:r>
          </a:p>
          <a:p>
            <a:pPr lvl="2"/>
            <a:r>
              <a:rPr lang="bg-BG" dirty="0"/>
              <a:t>При коректно въведена парола, прекратява изпълнение</a:t>
            </a:r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Парола – условие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D69BA2A7-DFDD-47E3-966C-C230BF7AF7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979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Парола – решение</a:t>
            </a:r>
            <a:endParaRPr lang="en-US" dirty="0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022387E3-FA6A-402A-9CE2-FE3E2838D6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4649" y="1371601"/>
            <a:ext cx="8782702" cy="4555093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sz="2800" b="1" noProof="1">
                <a:latin typeface="Consolas" pitchFamily="49" charset="0"/>
                <a:cs typeface="Consolas" pitchFamily="49" charset="0"/>
              </a:rPr>
              <a:t>string username = Console.ReadLine();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sz="2800" b="1" noProof="1">
                <a:latin typeface="Consolas" pitchFamily="49" charset="0"/>
                <a:cs typeface="Consolas" pitchFamily="49" charset="0"/>
              </a:rPr>
              <a:t>string </a:t>
            </a:r>
            <a:r>
              <a:rPr lang="en-US" sz="2800" b="1" dirty="0">
                <a:latin typeface="Consolas" pitchFamily="49" charset="0"/>
                <a:cs typeface="Consolas" pitchFamily="49" charset="0"/>
              </a:rPr>
              <a:t>password</a:t>
            </a:r>
            <a:r>
              <a:rPr lang="pt-BR" sz="2800" b="1" noProof="1">
                <a:latin typeface="Consolas" pitchFamily="49" charset="0"/>
                <a:cs typeface="Consolas" pitchFamily="49" charset="0"/>
              </a:rPr>
              <a:t> = Console.ReadLine();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pt-BR" sz="28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sz="2800" b="1" noProof="1">
                <a:latin typeface="Consolas" pitchFamily="49" charset="0"/>
                <a:cs typeface="Consolas" pitchFamily="49" charset="0"/>
              </a:rPr>
              <a:t>string input = Console.ReadLine();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while</a:t>
            </a:r>
            <a:r>
              <a:rPr lang="pt-BR" sz="2800" b="1" noProof="1">
                <a:latin typeface="Consolas" pitchFamily="49" charset="0"/>
                <a:cs typeface="Consolas" pitchFamily="49" charset="0"/>
              </a:rPr>
              <a:t> (input != password)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  <a:endParaRPr lang="pt-BR" sz="28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sz="2800" b="1" noProof="1">
                <a:latin typeface="Consolas" pitchFamily="49" charset="0"/>
                <a:cs typeface="Consolas" pitchFamily="49" charset="0"/>
              </a:rPr>
              <a:t>   input = Console.ReadLine();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pt-BR" sz="28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sz="2800" b="1" noProof="1">
                <a:latin typeface="Consolas" pitchFamily="49" charset="0"/>
                <a:cs typeface="Consolas" pitchFamily="49" charset="0"/>
              </a:rPr>
              <a:t>Console.WriteLine($"Welcome: {username}!");</a:t>
            </a:r>
            <a:endParaRPr lang="en-US" sz="2800" b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8BBD6259-20E8-4525-9305-BFA813D7B5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38034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200" dirty="0"/>
              <a:t>Напишете програма, която:</a:t>
            </a:r>
          </a:p>
          <a:p>
            <a:pPr lvl="1"/>
            <a:r>
              <a:rPr lang="bg-BG" sz="2800" dirty="0"/>
              <a:t>Чете от потребителя цели числа</a:t>
            </a:r>
          </a:p>
          <a:p>
            <a:pPr lvl="1"/>
            <a:r>
              <a:rPr lang="bg-BG" sz="2800" dirty="0"/>
              <a:t>Приключва четенето когато получи сума равна на първоначално въведеното число</a:t>
            </a:r>
            <a:endParaRPr lang="en-US" sz="2800" dirty="0"/>
          </a:p>
          <a:p>
            <a:pPr lvl="1"/>
            <a:r>
              <a:rPr lang="bg-BG" sz="2800" dirty="0"/>
              <a:t>Извежда сумата на всички прочетени числа</a:t>
            </a:r>
          </a:p>
          <a:p>
            <a:r>
              <a:rPr lang="bg-BG" sz="2800" dirty="0"/>
              <a:t>Примерен вход и изход:</a:t>
            </a:r>
          </a:p>
          <a:p>
            <a:pPr lvl="1"/>
            <a:endParaRPr lang="en-US" sz="2800" dirty="0"/>
          </a:p>
          <a:p>
            <a:pPr marL="377887" lvl="1" indent="0">
              <a:buNone/>
            </a:pPr>
            <a:endParaRPr lang="bg-BG" sz="2800" dirty="0">
              <a:solidFill>
                <a:schemeClr val="tx2">
                  <a:lumMod val="75000"/>
                </a:schemeClr>
              </a:solidFill>
            </a:endParaRPr>
          </a:p>
          <a:p>
            <a:pPr lvl="2"/>
            <a:endParaRPr lang="en-US" sz="2800" dirty="0"/>
          </a:p>
          <a:p>
            <a:pPr lvl="2"/>
            <a:endParaRPr lang="en-US" sz="28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Сума от числа – условие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C9D00A-0AA5-487A-887B-5904474B00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1887" y="4134136"/>
            <a:ext cx="1147319" cy="2138956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>
            <a:noAutofit/>
          </a:bodyPr>
          <a:lstStyle/>
          <a:p>
            <a:r>
              <a:rPr lang="en-US" sz="2400" b="1" dirty="0"/>
              <a:t>100</a:t>
            </a:r>
          </a:p>
          <a:p>
            <a:r>
              <a:rPr lang="en-US" sz="2400" b="1" dirty="0"/>
              <a:t>10</a:t>
            </a:r>
          </a:p>
          <a:p>
            <a:r>
              <a:rPr lang="en-US" sz="2400" b="1" dirty="0"/>
              <a:t>20</a:t>
            </a:r>
          </a:p>
          <a:p>
            <a:r>
              <a:rPr lang="en-US" sz="2400" b="1" dirty="0"/>
              <a:t>30</a:t>
            </a:r>
          </a:p>
          <a:p>
            <a:r>
              <a:rPr lang="en-US" sz="2400" b="1" dirty="0"/>
              <a:t>45</a:t>
            </a:r>
          </a:p>
        </p:txBody>
      </p:sp>
      <p:sp>
        <p:nvSpPr>
          <p:cNvPr id="11" name="Right Arrow 11">
            <a:extLst>
              <a:ext uri="{FF2B5EF4-FFF2-40B4-BE49-F238E27FC236}">
                <a16:creationId xmlns:a16="http://schemas.microsoft.com/office/drawing/2014/main" id="{CA100D17-5BE1-4626-AB26-76ED6669B30A}"/>
              </a:ext>
            </a:extLst>
          </p:cNvPr>
          <p:cNvSpPr/>
          <p:nvPr/>
        </p:nvSpPr>
        <p:spPr>
          <a:xfrm>
            <a:off x="6705600" y="5051214"/>
            <a:ext cx="402787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51A38C55-69A4-4F90-8F17-AF8886D2B2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9612" y="4957190"/>
            <a:ext cx="747589" cy="492849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noAutofit/>
          </a:bodyPr>
          <a:lstStyle/>
          <a:p>
            <a:r>
              <a:rPr lang="bg-BG" sz="2400" b="1" dirty="0">
                <a:latin typeface="Consolas" pitchFamily="49" charset="0"/>
                <a:cs typeface="Consolas" pitchFamily="49" charset="0"/>
              </a:rPr>
              <a:t>105</a:t>
            </a:r>
            <a:endParaRPr lang="bg-BG" sz="2400" b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39E08B-6909-4551-93E1-0EFE28FA2D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0183" y="3854028"/>
            <a:ext cx="1147319" cy="2699172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>
            <a:noAutofit/>
          </a:bodyPr>
          <a:lstStyle/>
          <a:p>
            <a:r>
              <a:rPr lang="en-US" sz="2400" b="1" dirty="0"/>
              <a:t>20</a:t>
            </a:r>
          </a:p>
          <a:p>
            <a:r>
              <a:rPr lang="en-US" sz="2400" b="1" dirty="0"/>
              <a:t>1</a:t>
            </a:r>
            <a:endParaRPr lang="bg-BG" sz="2400" b="1" dirty="0"/>
          </a:p>
          <a:p>
            <a:r>
              <a:rPr lang="en-US" sz="2400" b="1" dirty="0"/>
              <a:t>2</a:t>
            </a:r>
          </a:p>
          <a:p>
            <a:r>
              <a:rPr lang="en-US" sz="2400" b="1" dirty="0"/>
              <a:t>3</a:t>
            </a:r>
          </a:p>
          <a:p>
            <a:r>
              <a:rPr lang="en-US" sz="2400" b="1" dirty="0"/>
              <a:t>4</a:t>
            </a:r>
            <a:endParaRPr lang="bg-BG" sz="2400" b="1" dirty="0"/>
          </a:p>
          <a:p>
            <a:r>
              <a:rPr lang="en-US" sz="2400" b="1" dirty="0"/>
              <a:t>5</a:t>
            </a:r>
            <a:endParaRPr lang="bg-BG" sz="2400" b="1" dirty="0"/>
          </a:p>
          <a:p>
            <a:r>
              <a:rPr lang="bg-BG" sz="2400" b="1" dirty="0"/>
              <a:t>6</a:t>
            </a:r>
            <a:endParaRPr lang="en-US" sz="2400" b="1" dirty="0"/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AF485882-4E01-4D7E-B206-D2092B347B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27908" y="4957190"/>
            <a:ext cx="549692" cy="492849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noAutofit/>
          </a:bodyPr>
          <a:lstStyle/>
          <a:p>
            <a:r>
              <a:rPr lang="en-US" sz="2400" b="1" dirty="0">
                <a:latin typeface="Consolas" pitchFamily="49" charset="0"/>
                <a:cs typeface="Consolas" pitchFamily="49" charset="0"/>
              </a:rPr>
              <a:t>2</a:t>
            </a:r>
            <a:r>
              <a:rPr lang="bg-BG" sz="2400" b="1" dirty="0">
                <a:latin typeface="Consolas" pitchFamily="49" charset="0"/>
                <a:cs typeface="Consolas" pitchFamily="49" charset="0"/>
              </a:rPr>
              <a:t>1</a:t>
            </a:r>
            <a:endParaRPr lang="bg-BG" sz="2400" b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4" name="Right Arrow 11">
            <a:extLst>
              <a:ext uri="{FF2B5EF4-FFF2-40B4-BE49-F238E27FC236}">
                <a16:creationId xmlns:a16="http://schemas.microsoft.com/office/drawing/2014/main" id="{1486ED7A-EEE8-48DC-A9B0-2BDA1047B870}"/>
              </a:ext>
            </a:extLst>
          </p:cNvPr>
          <p:cNvSpPr/>
          <p:nvPr/>
        </p:nvSpPr>
        <p:spPr>
          <a:xfrm>
            <a:off x="10076312" y="5051214"/>
            <a:ext cx="402787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C11A6882-73EA-432D-9BA8-466616E83A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77760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8" grpId="0" animBg="1"/>
      <p:bldP spid="13" grpId="0" animBg="1"/>
      <p:bldP spid="1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Сума от числа – решение</a:t>
            </a:r>
            <a:endParaRPr lang="en-US" dirty="0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022387E3-FA6A-402A-9CE2-FE3E2838D6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9205" y="1539000"/>
            <a:ext cx="9932029" cy="3970318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sz="2800" b="1" noProof="1">
                <a:latin typeface="Consolas" pitchFamily="49" charset="0"/>
                <a:cs typeface="Consolas" pitchFamily="49" charset="0"/>
              </a:rPr>
              <a:t>int n = int.Parse(Console.ReadLine());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sz="2800" b="1" noProof="1">
                <a:latin typeface="Consolas" pitchFamily="49" charset="0"/>
                <a:cs typeface="Consolas" pitchFamily="49" charset="0"/>
              </a:rPr>
              <a:t>int sum = 0;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pt-BR" sz="28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while</a:t>
            </a:r>
            <a:r>
              <a:rPr lang="pt-BR" sz="2800" b="1" noProof="1">
                <a:latin typeface="Consolas" pitchFamily="49" charset="0"/>
                <a:cs typeface="Consolas" pitchFamily="49" charset="0"/>
              </a:rPr>
              <a:t> (sum &lt; 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n</a:t>
            </a:r>
            <a:r>
              <a:rPr lang="pt-BR" sz="2800" b="1" noProof="1">
                <a:latin typeface="Consolas" pitchFamily="49" charset="0"/>
                <a:cs typeface="Consolas" pitchFamily="49" charset="0"/>
              </a:rPr>
              <a:t>)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  <a:endParaRPr lang="pt-BR" sz="28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sz="2800" b="1" noProof="1">
                <a:latin typeface="Consolas" pitchFamily="49" charset="0"/>
                <a:cs typeface="Consolas" pitchFamily="49" charset="0"/>
              </a:rPr>
              <a:t>  int currentNum =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int.Parse(</a:t>
            </a:r>
            <a:r>
              <a:rPr lang="pt-BR" sz="2800" b="1" noProof="1">
                <a:latin typeface="Consolas" pitchFamily="49" charset="0"/>
                <a:cs typeface="Consolas" pitchFamily="49" charset="0"/>
              </a:rPr>
              <a:t>Console.ReadLine());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sz="2800" b="1" noProof="1">
                <a:latin typeface="Consolas" pitchFamily="49" charset="0"/>
                <a:cs typeface="Consolas" pitchFamily="49" charset="0"/>
              </a:rPr>
              <a:t>  sum += currentNum;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sz="2800" b="1" noProof="1">
                <a:latin typeface="Consolas" pitchFamily="49" charset="0"/>
                <a:cs typeface="Consolas" pitchFamily="49" charset="0"/>
              </a:rPr>
              <a:t>Console.WriteLine(sum);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1C186425-90E7-419A-8497-38046E3B44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75640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sz="3400" dirty="0"/>
              <a:t>Напишете програма, която: </a:t>
            </a:r>
          </a:p>
          <a:p>
            <a:pPr lvl="1"/>
            <a:r>
              <a:rPr lang="bg-BG" sz="3200" dirty="0"/>
              <a:t>Прочита цяло число </a:t>
            </a:r>
            <a:r>
              <a:rPr lang="en-US" sz="3200" b="1" dirty="0"/>
              <a:t>n</a:t>
            </a:r>
            <a:endParaRPr lang="bg-BG" sz="3200" b="1" dirty="0"/>
          </a:p>
          <a:p>
            <a:pPr lvl="1"/>
            <a:r>
              <a:rPr lang="bg-BG" sz="3200" dirty="0"/>
              <a:t>Отпечатва всички числа </a:t>
            </a:r>
            <a:r>
              <a:rPr lang="en-US" sz="3200" dirty="0"/>
              <a:t>≤ </a:t>
            </a:r>
            <a:r>
              <a:rPr lang="en-US" sz="3200" b="1" dirty="0">
                <a:latin typeface="Consolas" panose="020B0609020204030204" pitchFamily="49" charset="0"/>
              </a:rPr>
              <a:t>n</a:t>
            </a:r>
            <a:r>
              <a:rPr lang="bg-BG" sz="3200" dirty="0"/>
              <a:t> от редицата:</a:t>
            </a:r>
            <a:r>
              <a:rPr lang="en-US" sz="3200" dirty="0"/>
              <a:t> 1, 3, 7, 15, 31, …</a:t>
            </a:r>
          </a:p>
          <a:p>
            <a:pPr lvl="1"/>
            <a:r>
              <a:rPr lang="bg-BG" sz="3200" dirty="0"/>
              <a:t>Всяко следващо число </a:t>
            </a:r>
            <a:r>
              <a:rPr lang="en-US" sz="3200" dirty="0"/>
              <a:t>e </a:t>
            </a:r>
            <a:r>
              <a:rPr lang="bg-BG" sz="3200" dirty="0"/>
              <a:t>равно на </a:t>
            </a:r>
            <a:r>
              <a:rPr lang="bg-BG" sz="3200" b="1" dirty="0"/>
              <a:t>предишното</a:t>
            </a:r>
            <a:r>
              <a:rPr lang="bg-BG" sz="3200" dirty="0">
                <a:solidFill>
                  <a:schemeClr val="bg1"/>
                </a:solidFill>
              </a:rPr>
              <a:t> 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bg-BG" sz="3200" dirty="0"/>
              <a:t>*</a:t>
            </a:r>
            <a:r>
              <a:rPr lang="en-US" sz="3200" dirty="0"/>
              <a:t> </a:t>
            </a:r>
            <a:r>
              <a:rPr lang="bg-BG" sz="3200" dirty="0"/>
              <a:t> 2 + 1</a:t>
            </a:r>
            <a:endParaRPr lang="en-US" sz="32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Редица</a:t>
            </a:r>
            <a:r>
              <a:rPr lang="ru-RU" dirty="0"/>
              <a:t> числа 2</a:t>
            </a:r>
            <a:r>
              <a:rPr lang="en-US" dirty="0"/>
              <a:t>k </a:t>
            </a:r>
            <a:r>
              <a:rPr lang="ru-RU" dirty="0"/>
              <a:t>+</a:t>
            </a:r>
            <a:r>
              <a:rPr lang="en-US" dirty="0"/>
              <a:t> </a:t>
            </a:r>
            <a:r>
              <a:rPr lang="ru-RU" dirty="0"/>
              <a:t>1 – условие</a:t>
            </a:r>
            <a:endParaRPr lang="en-US" dirty="0"/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1224106" y="4419600"/>
            <a:ext cx="9743788" cy="606320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bg-BG" sz="3200" b="1" noProof="1">
                <a:latin typeface="Consolas" pitchFamily="49" charset="0"/>
                <a:cs typeface="Consolas" pitchFamily="49" charset="0"/>
              </a:rPr>
              <a:t>,</a:t>
            </a:r>
            <a:r>
              <a:rPr lang="bg-BG" sz="3200" b="1" noProof="1">
                <a:latin typeface="+mj-lt"/>
                <a:cs typeface="Consolas" pitchFamily="49" charset="0"/>
              </a:rPr>
              <a:t> 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(</a:t>
            </a:r>
            <a:r>
              <a:rPr lang="bg-BG" sz="3200" b="1" noProof="1">
                <a:latin typeface="Consolas" pitchFamily="49" charset="0"/>
                <a:cs typeface="Consolas" pitchFamily="49" charset="0"/>
              </a:rPr>
              <a:t>1</a:t>
            </a:r>
            <a:r>
              <a:rPr lang="en-US" sz="3200" b="1" noProof="1">
                <a:latin typeface="+mj-lt"/>
                <a:cs typeface="Consolas" pitchFamily="49" charset="0"/>
              </a:rPr>
              <a:t> 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*</a:t>
            </a:r>
            <a:r>
              <a:rPr lang="en-US" sz="3200" b="1" noProof="1">
                <a:latin typeface="+mj-lt"/>
                <a:cs typeface="Consolas" pitchFamily="49" charset="0"/>
              </a:rPr>
              <a:t> </a:t>
            </a:r>
            <a:r>
              <a:rPr lang="bg-BG" sz="3200" b="1" noProof="1">
                <a:latin typeface="Consolas" pitchFamily="49" charset="0"/>
                <a:cs typeface="Consolas" pitchFamily="49" charset="0"/>
              </a:rPr>
              <a:t>2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)</a:t>
            </a:r>
            <a:r>
              <a:rPr lang="en-US" sz="3200" b="1" noProof="1">
                <a:latin typeface="+mj-lt"/>
                <a:cs typeface="Consolas" pitchFamily="49" charset="0"/>
              </a:rPr>
              <a:t> 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+</a:t>
            </a:r>
            <a:r>
              <a:rPr lang="en-US" sz="3200" b="1" noProof="1">
                <a:latin typeface="+mj-lt"/>
                <a:cs typeface="Consolas" pitchFamily="49" charset="0"/>
              </a:rPr>
              <a:t> 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1</a:t>
            </a:r>
            <a:r>
              <a:rPr lang="en-US" sz="3200" b="1" noProof="1">
                <a:latin typeface="+mj-lt"/>
                <a:cs typeface="Consolas" pitchFamily="49" charset="0"/>
              </a:rPr>
              <a:t> 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=</a:t>
            </a:r>
            <a:r>
              <a:rPr lang="en-US" sz="3200" b="1" noProof="1">
                <a:latin typeface="+mj-lt"/>
                <a:cs typeface="Consolas" pitchFamily="49" charset="0"/>
              </a:rPr>
              <a:t> 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3</a:t>
            </a:r>
            <a:r>
              <a:rPr lang="en-US" sz="3200" b="1" noProof="1">
                <a:latin typeface="+mj-lt"/>
                <a:cs typeface="Consolas" pitchFamily="49" charset="0"/>
              </a:rPr>
              <a:t>, 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(3</a:t>
            </a:r>
            <a:r>
              <a:rPr lang="en-US" sz="3200" b="1" noProof="1">
                <a:latin typeface="+mj-lt"/>
                <a:cs typeface="Consolas" pitchFamily="49" charset="0"/>
              </a:rPr>
              <a:t> 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*</a:t>
            </a:r>
            <a:r>
              <a:rPr lang="en-US" sz="3200" b="1" noProof="1">
                <a:latin typeface="+mj-lt"/>
                <a:cs typeface="Consolas" pitchFamily="49" charset="0"/>
              </a:rPr>
              <a:t> 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2)</a:t>
            </a:r>
            <a:r>
              <a:rPr lang="en-US" sz="3200" b="1" noProof="1">
                <a:latin typeface="+mj-lt"/>
                <a:cs typeface="Consolas" pitchFamily="49" charset="0"/>
              </a:rPr>
              <a:t> 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+</a:t>
            </a:r>
            <a:r>
              <a:rPr lang="en-US" sz="3200" b="1" noProof="1">
                <a:latin typeface="+mj-lt"/>
                <a:cs typeface="Consolas" pitchFamily="49" charset="0"/>
              </a:rPr>
              <a:t> 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1</a:t>
            </a:r>
            <a:r>
              <a:rPr lang="en-US" sz="3200" b="1" noProof="1">
                <a:latin typeface="+mj-lt"/>
                <a:cs typeface="Consolas" pitchFamily="49" charset="0"/>
              </a:rPr>
              <a:t> 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=</a:t>
            </a:r>
            <a:r>
              <a:rPr lang="en-US" sz="3200" b="1" noProof="1">
                <a:latin typeface="+mj-lt"/>
                <a:cs typeface="Consolas" pitchFamily="49" charset="0"/>
              </a:rPr>
              <a:t> 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7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,</a:t>
            </a:r>
            <a:r>
              <a:rPr lang="en-US" sz="3200" b="1" noProof="1">
                <a:latin typeface="+mj-lt"/>
                <a:cs typeface="Consolas" pitchFamily="49" charset="0"/>
              </a:rPr>
              <a:t> 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(7</a:t>
            </a:r>
            <a:r>
              <a:rPr lang="en-US" sz="3200" b="1" noProof="1">
                <a:latin typeface="+mj-lt"/>
                <a:cs typeface="Consolas" pitchFamily="49" charset="0"/>
              </a:rPr>
              <a:t> 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*</a:t>
            </a:r>
            <a:r>
              <a:rPr lang="en-US" sz="3200" b="1" noProof="1">
                <a:latin typeface="+mj-lt"/>
                <a:cs typeface="Consolas" pitchFamily="49" charset="0"/>
              </a:rPr>
              <a:t> 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2)</a:t>
            </a:r>
            <a:r>
              <a:rPr lang="en-US" sz="3200" b="1" noProof="1">
                <a:latin typeface="+mj-lt"/>
                <a:cs typeface="Consolas" pitchFamily="49" charset="0"/>
              </a:rPr>
              <a:t> 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+</a:t>
            </a:r>
            <a:r>
              <a:rPr lang="en-US" sz="3200" b="1" noProof="1">
                <a:latin typeface="+mj-lt"/>
                <a:cs typeface="Consolas" pitchFamily="49" charset="0"/>
              </a:rPr>
              <a:t> 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1</a:t>
            </a:r>
            <a:r>
              <a:rPr lang="en-US" sz="3200" b="1" noProof="1">
                <a:latin typeface="+mj-lt"/>
                <a:cs typeface="Consolas" pitchFamily="49" charset="0"/>
              </a:rPr>
              <a:t> 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=</a:t>
            </a:r>
            <a:r>
              <a:rPr lang="en-US" sz="3200" b="1" noProof="1">
                <a:latin typeface="+mj-lt"/>
                <a:cs typeface="Consolas" pitchFamily="49" charset="0"/>
              </a:rPr>
              <a:t> 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15</a:t>
            </a:r>
            <a:r>
              <a:rPr lang="en-US" sz="3200" b="1" noProof="1">
                <a:latin typeface="+mj-lt"/>
                <a:cs typeface="Consolas" pitchFamily="49" charset="0"/>
              </a:rPr>
              <a:t> 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…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FD3594EB-0D27-4524-9D1A-74F2E6C94E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69134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 bwMode="auto">
          <a:xfrm>
            <a:off x="4495801" y="1764821"/>
            <a:ext cx="2447925" cy="457200"/>
          </a:xfrm>
          <a:prstGeom prst="rect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rgbClr val="FFFFFF"/>
                </a:solidFill>
              </a:rPr>
              <a:t>k = 1</a:t>
            </a:r>
            <a:endParaRPr lang="en-US" sz="2400" dirty="0">
              <a:solidFill>
                <a:srgbClr val="FFFFFF"/>
              </a:solidFill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5709221" y="1416171"/>
            <a:ext cx="4762" cy="32492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5718747" y="2237117"/>
            <a:ext cx="9525" cy="3810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Diamond 22"/>
          <p:cNvSpPr/>
          <p:nvPr/>
        </p:nvSpPr>
        <p:spPr bwMode="auto">
          <a:xfrm>
            <a:off x="4495801" y="2618117"/>
            <a:ext cx="2447924" cy="1255144"/>
          </a:xfrm>
          <a:prstGeom prst="diamond">
            <a:avLst/>
          </a:prstGeom>
          <a:solidFill>
            <a:srgbClr val="4F6984"/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rgbClr val="FFFFFF"/>
                </a:solidFill>
              </a:rPr>
              <a:t>k &lt;=</a:t>
            </a:r>
            <a:r>
              <a:rPr lang="bg-BG" sz="2400" dirty="0">
                <a:solidFill>
                  <a:srgbClr val="FFFFFF"/>
                </a:solidFill>
              </a:rPr>
              <a:t> </a:t>
            </a:r>
            <a:r>
              <a:rPr lang="en-GB" sz="2400" dirty="0">
                <a:solidFill>
                  <a:srgbClr val="FFFFFF"/>
                </a:solidFill>
              </a:rPr>
              <a:t>n</a:t>
            </a:r>
            <a:endParaRPr lang="en-US" sz="2400" dirty="0">
              <a:solidFill>
                <a:srgbClr val="FFFFFF"/>
              </a:solidFill>
            </a:endParaRPr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5713984" y="3888357"/>
            <a:ext cx="9525" cy="3810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Parallelogram 33"/>
          <p:cNvSpPr/>
          <p:nvPr/>
        </p:nvSpPr>
        <p:spPr bwMode="auto">
          <a:xfrm>
            <a:off x="4495800" y="4284453"/>
            <a:ext cx="2447926" cy="680768"/>
          </a:xfrm>
          <a:prstGeom prst="parallelogram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 k</a:t>
            </a:r>
            <a:endParaRPr lang="en-US" sz="24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35" name="Straight Arrow Connector 34"/>
          <p:cNvCxnSpPr/>
          <p:nvPr/>
        </p:nvCxnSpPr>
        <p:spPr>
          <a:xfrm>
            <a:off x="5699697" y="4980317"/>
            <a:ext cx="9525" cy="3810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Elbow Connector 37"/>
          <p:cNvCxnSpPr>
            <a:stCxn id="36" idx="1"/>
            <a:endCxn id="23" idx="1"/>
          </p:cNvCxnSpPr>
          <p:nvPr/>
        </p:nvCxnSpPr>
        <p:spPr>
          <a:xfrm rot="10800000">
            <a:off x="4495801" y="3245691"/>
            <a:ext cx="12700" cy="2446307"/>
          </a:xfrm>
          <a:prstGeom prst="bentConnector3">
            <a:avLst>
              <a:gd name="adj1" fmla="val 3757283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Flowchart: Terminator 45"/>
          <p:cNvSpPr/>
          <p:nvPr/>
        </p:nvSpPr>
        <p:spPr bwMode="auto">
          <a:xfrm>
            <a:off x="4508501" y="835325"/>
            <a:ext cx="2435224" cy="580846"/>
          </a:xfrm>
          <a:prstGeom prst="flowChartTerminator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Read input</a:t>
            </a:r>
            <a:endParaRPr lang="en-US" sz="24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6" name="Rectangle 35"/>
          <p:cNvSpPr/>
          <p:nvPr/>
        </p:nvSpPr>
        <p:spPr bwMode="auto">
          <a:xfrm>
            <a:off x="4495801" y="5364192"/>
            <a:ext cx="2447924" cy="655608"/>
          </a:xfrm>
          <a:prstGeom prst="rect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2400" noProof="1">
                <a:solidFill>
                  <a:schemeClr val="bg2"/>
                </a:solidFill>
                <a:latin typeface="Consolas" pitchFamily="49" charset="0"/>
                <a:cs typeface="Consolas" pitchFamily="49" charset="0"/>
              </a:rPr>
              <a:t>k = </a:t>
            </a:r>
            <a:r>
              <a:rPr lang="bg-BG" sz="2400" noProof="1">
                <a:solidFill>
                  <a:schemeClr val="bg2"/>
                </a:solidFill>
                <a:latin typeface="Consolas" pitchFamily="49" charset="0"/>
                <a:cs typeface="Consolas" pitchFamily="49" charset="0"/>
              </a:rPr>
              <a:t>2 * </a:t>
            </a:r>
            <a:r>
              <a:rPr lang="pt-BR" sz="2400" noProof="1">
                <a:solidFill>
                  <a:schemeClr val="bg2"/>
                </a:solidFill>
                <a:latin typeface="Consolas" pitchFamily="49" charset="0"/>
                <a:cs typeface="Consolas" pitchFamily="49" charset="0"/>
              </a:rPr>
              <a:t>k </a:t>
            </a:r>
            <a:r>
              <a:rPr lang="bg-BG" sz="2400" noProof="1">
                <a:solidFill>
                  <a:schemeClr val="bg2"/>
                </a:solidFill>
                <a:latin typeface="Consolas" pitchFamily="49" charset="0"/>
                <a:cs typeface="Consolas" pitchFamily="49" charset="0"/>
              </a:rPr>
              <a:t>+ 1</a:t>
            </a:r>
            <a:endParaRPr lang="en-US" sz="2400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78EA80-7B10-4552-97A2-AACEC0482F42}"/>
              </a:ext>
            </a:extLst>
          </p:cNvPr>
          <p:cNvSpPr txBox="1"/>
          <p:nvPr/>
        </p:nvSpPr>
        <p:spPr>
          <a:xfrm>
            <a:off x="6781801" y="2773392"/>
            <a:ext cx="776330" cy="53973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none" lIns="144000" tIns="108000" rIns="144000" bIns="108000" rtlCol="0">
            <a:spAutoFit/>
          </a:bodyPr>
          <a:lstStyle/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000" dirty="0"/>
              <a:t>false</a:t>
            </a:r>
            <a:endParaRPr lang="en-US" sz="240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CBB5AD8-AB75-4F23-AE6A-E521D2C6B528}"/>
              </a:ext>
            </a:extLst>
          </p:cNvPr>
          <p:cNvCxnSpPr>
            <a:cxnSpLocks/>
          </p:cNvCxnSpPr>
          <p:nvPr/>
        </p:nvCxnSpPr>
        <p:spPr>
          <a:xfrm>
            <a:off x="6943725" y="3247834"/>
            <a:ext cx="828676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lowchart: Terminator 19">
            <a:extLst>
              <a:ext uri="{FF2B5EF4-FFF2-40B4-BE49-F238E27FC236}">
                <a16:creationId xmlns:a16="http://schemas.microsoft.com/office/drawing/2014/main" id="{8AF30D3D-9BFC-424A-BC1C-DCA4880910ED}"/>
              </a:ext>
            </a:extLst>
          </p:cNvPr>
          <p:cNvSpPr/>
          <p:nvPr/>
        </p:nvSpPr>
        <p:spPr bwMode="auto">
          <a:xfrm>
            <a:off x="7782467" y="2955266"/>
            <a:ext cx="2435224" cy="580846"/>
          </a:xfrm>
          <a:prstGeom prst="flowChartTerminator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End loop</a:t>
            </a:r>
            <a:endParaRPr lang="en-US" sz="24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742009-B203-48FA-8914-66BBB7F723A0}"/>
              </a:ext>
            </a:extLst>
          </p:cNvPr>
          <p:cNvSpPr txBox="1"/>
          <p:nvPr/>
        </p:nvSpPr>
        <p:spPr>
          <a:xfrm>
            <a:off x="5699697" y="3696913"/>
            <a:ext cx="730035" cy="53973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none" lIns="144000" tIns="108000" rIns="144000" bIns="108000" rtlCol="0">
            <a:spAutoFit/>
          </a:bodyPr>
          <a:lstStyle/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000" dirty="0"/>
              <a:t>true</a:t>
            </a:r>
            <a:endParaRPr lang="en-US" sz="2400" dirty="0"/>
          </a:p>
        </p:txBody>
      </p:sp>
      <p:sp>
        <p:nvSpPr>
          <p:cNvPr id="25" name="Slide Number">
            <a:extLst>
              <a:ext uri="{FF2B5EF4-FFF2-40B4-BE49-F238E27FC236}">
                <a16:creationId xmlns:a16="http://schemas.microsoft.com/office/drawing/2014/main" id="{5986B056-ECDA-4832-B011-8359DFFF4245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4573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3" grpId="0" animBg="1"/>
      <p:bldP spid="34" grpId="0" animBg="1"/>
      <p:bldP spid="36" grpId="0" animBg="1"/>
      <p:bldP spid="15" grpId="0"/>
      <p:bldP spid="20" grpId="0" animBg="1"/>
      <p:bldP spid="2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Редица</a:t>
            </a:r>
            <a:r>
              <a:rPr lang="ru-RU" dirty="0"/>
              <a:t> числа 2</a:t>
            </a:r>
            <a:r>
              <a:rPr lang="en-US" dirty="0"/>
              <a:t>k </a:t>
            </a:r>
            <a:r>
              <a:rPr lang="ru-RU" dirty="0"/>
              <a:t>+</a:t>
            </a:r>
            <a:r>
              <a:rPr lang="en-US" dirty="0"/>
              <a:t> </a:t>
            </a:r>
            <a:r>
              <a:rPr lang="ru-RU" dirty="0"/>
              <a:t>1 – решение</a:t>
            </a:r>
            <a:endParaRPr lang="en-US" dirty="0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962150" y="1839248"/>
            <a:ext cx="8191500" cy="3647152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sz="3000" b="1" noProof="1">
                <a:latin typeface="Consolas" pitchFamily="49" charset="0"/>
                <a:cs typeface="Consolas" pitchFamily="49" charset="0"/>
              </a:rPr>
              <a:t>int n = int.Parse(Console.ReadLine());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sz="3000" b="1" noProof="1">
                <a:latin typeface="Consolas" pitchFamily="49" charset="0"/>
                <a:cs typeface="Consolas" pitchFamily="49" charset="0"/>
              </a:rPr>
              <a:t>int k = 1;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while</a:t>
            </a:r>
            <a:r>
              <a:rPr lang="en-US" sz="3000" b="1" noProof="1">
                <a:latin typeface="Consolas" pitchFamily="49" charset="0"/>
                <a:cs typeface="Consolas" pitchFamily="49" charset="0"/>
              </a:rPr>
              <a:t> </a:t>
            </a:r>
            <a:r>
              <a:rPr lang="pt-BR" sz="3000" b="1" noProof="1">
                <a:latin typeface="Consolas" pitchFamily="49" charset="0"/>
                <a:cs typeface="Consolas" pitchFamily="49" charset="0"/>
              </a:rPr>
              <a:t>(k &lt;= n)</a:t>
            </a:r>
            <a:r>
              <a:rPr lang="bg-BG" sz="3000" b="1" noProof="1">
                <a:latin typeface="Consolas" pitchFamily="49" charset="0"/>
                <a:cs typeface="Consolas" pitchFamily="49" charset="0"/>
              </a:rPr>
              <a:t> </a:t>
            </a:r>
            <a:endParaRPr lang="en-US" sz="30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sz="3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sz="3000" b="1" noProof="1">
                <a:latin typeface="Consolas" pitchFamily="49" charset="0"/>
                <a:cs typeface="Consolas" pitchFamily="49" charset="0"/>
              </a:rPr>
              <a:t>   Console.WriteLine(k);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sz="3000" b="1" noProof="1">
                <a:latin typeface="Consolas" pitchFamily="49" charset="0"/>
                <a:cs typeface="Consolas" pitchFamily="49" charset="0"/>
              </a:rPr>
              <a:t>   k = </a:t>
            </a:r>
            <a:r>
              <a:rPr lang="bg-BG" sz="3000" b="1" noProof="1">
                <a:latin typeface="Consolas" pitchFamily="49" charset="0"/>
                <a:cs typeface="Consolas" pitchFamily="49" charset="0"/>
              </a:rPr>
              <a:t>2 * </a:t>
            </a:r>
            <a:r>
              <a:rPr lang="pt-BR" sz="3000" b="1" noProof="1">
                <a:latin typeface="Consolas" pitchFamily="49" charset="0"/>
                <a:cs typeface="Consolas" pitchFamily="49" charset="0"/>
              </a:rPr>
              <a:t>k </a:t>
            </a:r>
            <a:r>
              <a:rPr lang="bg-BG" sz="3000" b="1" noProof="1">
                <a:latin typeface="Consolas" pitchFamily="49" charset="0"/>
                <a:cs typeface="Consolas" pitchFamily="49" charset="0"/>
              </a:rPr>
              <a:t>+ 1</a:t>
            </a:r>
            <a:r>
              <a:rPr lang="pt-BR" sz="3000" b="1" noProof="1">
                <a:latin typeface="Consolas" pitchFamily="49" charset="0"/>
                <a:cs typeface="Consolas" pitchFamily="49" charset="0"/>
              </a:rPr>
              <a:t>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sz="3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7" name="AutoShape 7"/>
          <p:cNvSpPr>
            <a:spLocks noChangeArrowheads="1"/>
          </p:cNvSpPr>
          <p:nvPr/>
        </p:nvSpPr>
        <p:spPr bwMode="auto">
          <a:xfrm>
            <a:off x="5410200" y="2677448"/>
            <a:ext cx="4191000" cy="970208"/>
          </a:xfrm>
          <a:prstGeom prst="wedgeRoundRectCallout">
            <a:avLst>
              <a:gd name="adj1" fmla="val -56617"/>
              <a:gd name="adj2" fmla="val -1295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</a:rPr>
              <a:t>Повторение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sz="2800" b="1" dirty="0">
                <a:solidFill>
                  <a:srgbClr val="FFFFFF"/>
                </a:solidFill>
              </a:rPr>
              <a:t>докато е в сила условието </a:t>
            </a:r>
            <a:r>
              <a:rPr lang="en-US" sz="2800" b="1" noProof="1">
                <a:solidFill>
                  <a:schemeClr val="bg2"/>
                </a:solidFill>
                <a:latin typeface="Consolas" panose="020B0609020204030204" pitchFamily="49" charset="0"/>
              </a:rPr>
              <a:t>k</a:t>
            </a:r>
            <a:r>
              <a:rPr 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>
                <a:solidFill>
                  <a:schemeClr val="bg2"/>
                </a:solidFill>
              </a:rPr>
              <a:t>≤ </a:t>
            </a:r>
            <a:r>
              <a:rPr lang="en-US" sz="2800" b="1" dirty="0">
                <a:solidFill>
                  <a:schemeClr val="bg2"/>
                </a:solidFill>
                <a:latin typeface="Consolas" panose="020B0609020204030204" pitchFamily="49" charset="0"/>
              </a:rPr>
              <a:t>n</a:t>
            </a:r>
            <a:endParaRPr lang="bg-BG" sz="2800" b="1" dirty="0">
              <a:solidFill>
                <a:schemeClr val="bg2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FD3AB632-DBC2-417C-9A37-B26A0E8FB6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81007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9E7A0E2-063B-4028-B498-A6630D734A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pPr latinLnBrk="0"/>
            <a:r>
              <a:rPr lang="bg-BG" sz="3500" dirty="0"/>
              <a:t>Напишете програма, която:</a:t>
            </a:r>
          </a:p>
          <a:p>
            <a:pPr lvl="1" latinLnBrk="0"/>
            <a:r>
              <a:rPr lang="bg-BG" sz="3500" dirty="0"/>
              <a:t>Чете</a:t>
            </a:r>
            <a:r>
              <a:rPr lang="en-US" sz="3500" dirty="0"/>
              <a:t> </a:t>
            </a:r>
            <a:r>
              <a:rPr lang="en-US" sz="3500" b="1" dirty="0"/>
              <a:t>n</a:t>
            </a:r>
            <a:r>
              <a:rPr lang="en-US" sz="3500" dirty="0"/>
              <a:t> –</a:t>
            </a:r>
            <a:r>
              <a:rPr lang="bg-BG" sz="3500" dirty="0"/>
              <a:t> на</a:t>
            </a:r>
            <a:r>
              <a:rPr lang="en-US" sz="3500" dirty="0"/>
              <a:t> </a:t>
            </a:r>
            <a:r>
              <a:rPr lang="bg-BG" sz="3500" dirty="0"/>
              <a:t>брой числа, които представляват вноски по банкова сметка</a:t>
            </a:r>
            <a:r>
              <a:rPr lang="en-US" sz="3500" dirty="0"/>
              <a:t> </a:t>
            </a:r>
            <a:r>
              <a:rPr lang="bg-BG" sz="3500" dirty="0"/>
              <a:t>до получаване на командата </a:t>
            </a:r>
            <a:r>
              <a:rPr lang="en-US" sz="3500" dirty="0">
                <a:latin typeface="Consolas" panose="020B0609020204030204" pitchFamily="49" charset="0"/>
              </a:rPr>
              <a:t>"</a:t>
            </a:r>
            <a:r>
              <a:rPr lang="en-US" sz="3500" b="1" dirty="0">
                <a:latin typeface="Consolas" panose="020B0609020204030204" pitchFamily="49" charset="0"/>
              </a:rPr>
              <a:t>NoMoreMoney</a:t>
            </a:r>
            <a:r>
              <a:rPr lang="en-US" sz="3500" dirty="0">
                <a:latin typeface="Consolas" panose="020B0609020204030204" pitchFamily="49" charset="0"/>
              </a:rPr>
              <a:t>"</a:t>
            </a:r>
            <a:endParaRPr lang="bg-BG" sz="3500" dirty="0"/>
          </a:p>
          <a:p>
            <a:pPr lvl="1" latinLnBrk="0"/>
            <a:r>
              <a:rPr lang="bg-BG" sz="3500" dirty="0"/>
              <a:t>При всяка вноска принтира: </a:t>
            </a:r>
          </a:p>
          <a:p>
            <a:pPr marL="377887" lvl="1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bg-BG" sz="3500" b="1" dirty="0"/>
              <a:t>       </a:t>
            </a:r>
            <a:r>
              <a:rPr lang="en-US" sz="3500" b="1" dirty="0"/>
              <a:t>"</a:t>
            </a:r>
            <a:r>
              <a:rPr lang="en-US" sz="3500" b="1" dirty="0">
                <a:latin typeface="Consolas" pitchFamily="49" charset="0"/>
                <a:cs typeface="Consolas" pitchFamily="49" charset="0"/>
              </a:rPr>
              <a:t>Increase:</a:t>
            </a:r>
            <a:r>
              <a:rPr lang="bg-BG" sz="3500" b="1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3500" b="1" dirty="0"/>
              <a:t>{</a:t>
            </a:r>
            <a:r>
              <a:rPr lang="bg-BG" sz="3500" b="1" dirty="0"/>
              <a:t>сумата</a:t>
            </a:r>
            <a:r>
              <a:rPr lang="en-US" sz="3500" b="1" dirty="0"/>
              <a:t>}"</a:t>
            </a:r>
          </a:p>
          <a:p>
            <a:pPr lvl="1" latinLnBrk="0"/>
            <a:r>
              <a:rPr lang="bg-BG" sz="3500" dirty="0"/>
              <a:t>Ако се въведе отрицателно число да се изпише</a:t>
            </a:r>
            <a:endParaRPr lang="en-US" sz="3500" dirty="0"/>
          </a:p>
          <a:p>
            <a:pPr marL="377887" lvl="1" indent="0">
              <a:buNone/>
            </a:pPr>
            <a:r>
              <a:rPr lang="bg-BG" sz="3500" b="1" dirty="0"/>
              <a:t>    </a:t>
            </a:r>
            <a:r>
              <a:rPr lang="en-US" sz="3500" b="1" dirty="0"/>
              <a:t>"</a:t>
            </a:r>
            <a:r>
              <a:rPr lang="en-US" sz="3500" b="1" dirty="0">
                <a:latin typeface="Consolas" pitchFamily="49" charset="0"/>
                <a:cs typeface="Consolas" pitchFamily="49" charset="0"/>
              </a:rPr>
              <a:t>Invalid operation</a:t>
            </a:r>
            <a:r>
              <a:rPr lang="bg-BG" sz="3500" b="1" dirty="0">
                <a:latin typeface="Consolas" pitchFamily="49" charset="0"/>
                <a:cs typeface="Consolas" pitchFamily="49" charset="0"/>
              </a:rPr>
              <a:t>!</a:t>
            </a:r>
            <a:r>
              <a:rPr lang="en-US" sz="3500" b="1" dirty="0"/>
              <a:t>"</a:t>
            </a:r>
            <a:r>
              <a:rPr lang="bg-BG" sz="3500" b="1" dirty="0"/>
              <a:t> </a:t>
            </a:r>
            <a:r>
              <a:rPr lang="bg-BG" sz="3500" dirty="0"/>
              <a:t>и програмата да приключи </a:t>
            </a:r>
          </a:p>
          <a:p>
            <a:pPr lvl="1" latinLnBrk="0"/>
            <a:r>
              <a:rPr lang="bg-BG" sz="3500" dirty="0"/>
              <a:t>Накрая на програмата трябва да се изпише:</a:t>
            </a:r>
          </a:p>
          <a:p>
            <a:pPr marL="377887" lvl="1" indent="0">
              <a:buNone/>
            </a:pPr>
            <a:r>
              <a:rPr lang="bg-BG" sz="3500" b="1" dirty="0"/>
              <a:t>     "</a:t>
            </a:r>
            <a:r>
              <a:rPr lang="en-US" sz="3500" b="1" dirty="0">
                <a:latin typeface="Consolas" pitchFamily="49" charset="0"/>
                <a:cs typeface="Consolas" pitchFamily="49" charset="0"/>
              </a:rPr>
              <a:t>Total</a:t>
            </a:r>
            <a:r>
              <a:rPr lang="bg-BG" sz="3500" b="1" dirty="0">
                <a:latin typeface="Consolas" pitchFamily="49" charset="0"/>
                <a:cs typeface="Consolas" pitchFamily="49" charset="0"/>
              </a:rPr>
              <a:t>: </a:t>
            </a:r>
            <a:r>
              <a:rPr lang="en-US" sz="3500" b="1" dirty="0"/>
              <a:t>{</a:t>
            </a:r>
            <a:r>
              <a:rPr lang="bg-BG" sz="3500" b="1" dirty="0"/>
              <a:t>общата сума в сметката</a:t>
            </a:r>
            <a:r>
              <a:rPr lang="en-US" sz="3500" b="1" dirty="0"/>
              <a:t>}</a:t>
            </a:r>
            <a:r>
              <a:rPr lang="bg-BG" sz="3500" b="1" dirty="0"/>
              <a:t>"</a:t>
            </a:r>
            <a:endParaRPr lang="en-US" sz="3500" b="1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Баланс на сметка – условие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33587E6-5FCA-41D4-816C-3BB3632B1E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29899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200" dirty="0"/>
              <a:t>Примерен вход и изход: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Баланс на сметка – условие</a:t>
            </a:r>
            <a:endParaRPr lang="en-US" dirty="0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A8B79259-3B63-49B6-A704-8109E8DBD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6000" y="2286001"/>
            <a:ext cx="2043530" cy="1488471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>
            <a:noAutofit/>
          </a:bodyPr>
          <a:lstStyle/>
          <a:p>
            <a:r>
              <a:rPr lang="en-US" sz="2400" b="1" dirty="0">
                <a:latin typeface="Consolas" pitchFamily="49" charset="0"/>
                <a:cs typeface="Consolas" pitchFamily="49" charset="0"/>
              </a:rPr>
              <a:t>5.51</a:t>
            </a:r>
            <a:endParaRPr lang="bg-BG" sz="2400" b="1" dirty="0">
              <a:latin typeface="Consolas" pitchFamily="49" charset="0"/>
              <a:cs typeface="Consolas" pitchFamily="49" charset="0"/>
            </a:endParaRPr>
          </a:p>
          <a:p>
            <a:r>
              <a:rPr lang="en-US" sz="2400" b="1" dirty="0">
                <a:latin typeface="Consolas" pitchFamily="49" charset="0"/>
                <a:cs typeface="Consolas" pitchFamily="49" charset="0"/>
              </a:rPr>
              <a:t>69.42</a:t>
            </a:r>
            <a:endParaRPr lang="bg-BG" sz="2400" b="1" dirty="0">
              <a:latin typeface="Consolas" pitchFamily="49" charset="0"/>
              <a:cs typeface="Consolas" pitchFamily="49" charset="0"/>
            </a:endParaRPr>
          </a:p>
          <a:p>
            <a:r>
              <a:rPr lang="en-US" sz="2400" b="1" dirty="0">
                <a:latin typeface="Consolas" pitchFamily="49" charset="0"/>
                <a:cs typeface="Consolas" pitchFamily="49" charset="0"/>
              </a:rPr>
              <a:t>100</a:t>
            </a:r>
          </a:p>
          <a:p>
            <a:r>
              <a:rPr lang="en-US" sz="2400" b="1" noProof="1">
                <a:latin typeface="Consolas" pitchFamily="49" charset="0"/>
                <a:cs typeface="Consolas" pitchFamily="49" charset="0"/>
              </a:rPr>
              <a:t>NoMoreMoney</a:t>
            </a:r>
          </a:p>
        </p:txBody>
      </p:sp>
      <p:sp>
        <p:nvSpPr>
          <p:cNvPr id="14" name="Right Arrow 11">
            <a:extLst>
              <a:ext uri="{FF2B5EF4-FFF2-40B4-BE49-F238E27FC236}">
                <a16:creationId xmlns:a16="http://schemas.microsoft.com/office/drawing/2014/main" id="{668EA615-DE0A-44FE-82DC-AC72608D0C87}"/>
              </a:ext>
            </a:extLst>
          </p:cNvPr>
          <p:cNvSpPr/>
          <p:nvPr/>
        </p:nvSpPr>
        <p:spPr>
          <a:xfrm>
            <a:off x="4414155" y="2836149"/>
            <a:ext cx="462466" cy="3526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15" name="Rectangle 10">
            <a:extLst>
              <a:ext uri="{FF2B5EF4-FFF2-40B4-BE49-F238E27FC236}">
                <a16:creationId xmlns:a16="http://schemas.microsoft.com/office/drawing/2014/main" id="{A9EB1710-CB09-4E16-A0E2-3A486A399B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1" y="2250471"/>
            <a:ext cx="3931515" cy="1524000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noAutofit/>
          </a:bodyPr>
          <a:lstStyle/>
          <a:p>
            <a:r>
              <a:rPr lang="en-US" sz="2400" b="1" dirty="0">
                <a:latin typeface="Consolas" pitchFamily="49" charset="0"/>
                <a:cs typeface="Consolas" pitchFamily="49" charset="0"/>
              </a:rPr>
              <a:t>Increase: 5.51</a:t>
            </a:r>
            <a:endParaRPr lang="bg-BG" sz="2400" b="1" dirty="0">
              <a:latin typeface="Consolas" pitchFamily="49" charset="0"/>
              <a:cs typeface="Consolas" pitchFamily="49" charset="0"/>
            </a:endParaRPr>
          </a:p>
          <a:p>
            <a:r>
              <a:rPr lang="en-US" sz="2400" b="1" dirty="0">
                <a:latin typeface="Consolas" pitchFamily="49" charset="0"/>
                <a:cs typeface="Consolas" pitchFamily="49" charset="0"/>
              </a:rPr>
              <a:t>Increase: 69.42</a:t>
            </a:r>
            <a:endParaRPr lang="bg-BG" sz="2400" b="1" dirty="0">
              <a:latin typeface="Consolas" pitchFamily="49" charset="0"/>
              <a:cs typeface="Consolas" pitchFamily="49" charset="0"/>
            </a:endParaRPr>
          </a:p>
          <a:p>
            <a:r>
              <a:rPr lang="en-US" sz="2400" b="1" dirty="0">
                <a:latin typeface="Consolas" pitchFamily="49" charset="0"/>
                <a:cs typeface="Consolas" pitchFamily="49" charset="0"/>
              </a:rPr>
              <a:t>Increase: 100.00</a:t>
            </a:r>
            <a:endParaRPr lang="bg-BG" sz="2400" b="1" dirty="0">
              <a:latin typeface="Consolas" pitchFamily="49" charset="0"/>
              <a:cs typeface="Consolas" pitchFamily="49" charset="0"/>
            </a:endParaRPr>
          </a:p>
          <a:p>
            <a:r>
              <a:rPr lang="en-US" sz="2400" b="1" dirty="0">
                <a:latin typeface="Consolas" pitchFamily="49" charset="0"/>
                <a:cs typeface="Consolas" pitchFamily="49" charset="0"/>
              </a:rPr>
              <a:t>Total: 174.93</a:t>
            </a:r>
            <a:endParaRPr lang="bg-BG" sz="2400" b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7E56437E-F6DA-4DAD-9626-50C6DF1D5D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1438" y="4378934"/>
            <a:ext cx="1318092" cy="1488467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>
            <a:noAutofit/>
          </a:bodyPr>
          <a:lstStyle/>
          <a:p>
            <a:r>
              <a:rPr lang="en-US" sz="2400" b="1" dirty="0">
                <a:latin typeface="Consolas" pitchFamily="49" charset="0"/>
                <a:cs typeface="Consolas" pitchFamily="49" charset="0"/>
              </a:rPr>
              <a:t>120</a:t>
            </a:r>
            <a:endParaRPr lang="bg-BG" sz="2400" b="1" dirty="0">
              <a:latin typeface="Consolas" pitchFamily="49" charset="0"/>
              <a:cs typeface="Consolas" pitchFamily="49" charset="0"/>
            </a:endParaRPr>
          </a:p>
          <a:p>
            <a:r>
              <a:rPr lang="en-US" sz="2400" b="1" dirty="0">
                <a:latin typeface="Consolas" pitchFamily="49" charset="0"/>
                <a:cs typeface="Consolas" pitchFamily="49" charset="0"/>
              </a:rPr>
              <a:t>45.55</a:t>
            </a:r>
            <a:endParaRPr lang="bg-BG" sz="2400" b="1" dirty="0">
              <a:latin typeface="Consolas" pitchFamily="49" charset="0"/>
              <a:cs typeface="Consolas" pitchFamily="49" charset="0"/>
            </a:endParaRPr>
          </a:p>
          <a:p>
            <a:r>
              <a:rPr lang="en-US" sz="2400" b="1" dirty="0">
                <a:latin typeface="Consolas" pitchFamily="49" charset="0"/>
                <a:cs typeface="Consolas" pitchFamily="49" charset="0"/>
              </a:rPr>
              <a:t>-150</a:t>
            </a:r>
            <a:endParaRPr lang="en-US" sz="2400" b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7" name="Right Arrow 11">
            <a:extLst>
              <a:ext uri="{FF2B5EF4-FFF2-40B4-BE49-F238E27FC236}">
                <a16:creationId xmlns:a16="http://schemas.microsoft.com/office/drawing/2014/main" id="{E7993178-F2DA-42D4-A38D-A48F4CDD11E4}"/>
              </a:ext>
            </a:extLst>
          </p:cNvPr>
          <p:cNvSpPr/>
          <p:nvPr/>
        </p:nvSpPr>
        <p:spPr>
          <a:xfrm>
            <a:off x="4414155" y="4946844"/>
            <a:ext cx="462466" cy="3526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18" name="Rectangle 10">
            <a:extLst>
              <a:ext uri="{FF2B5EF4-FFF2-40B4-BE49-F238E27FC236}">
                <a16:creationId xmlns:a16="http://schemas.microsoft.com/office/drawing/2014/main" id="{D24F7F13-11D1-44B5-A78B-519442D0F1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0148" y="4378933"/>
            <a:ext cx="3909618" cy="1488466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noAutofit/>
          </a:bodyPr>
          <a:lstStyle/>
          <a:p>
            <a:r>
              <a:rPr lang="en-US" sz="2400" b="1" dirty="0">
                <a:latin typeface="Consolas" pitchFamily="49" charset="0"/>
                <a:cs typeface="Consolas" pitchFamily="49" charset="0"/>
              </a:rPr>
              <a:t>Increase: 120</a:t>
            </a:r>
            <a:endParaRPr lang="bg-BG" sz="2400" b="1" dirty="0">
              <a:latin typeface="Consolas" pitchFamily="49" charset="0"/>
              <a:cs typeface="Consolas" pitchFamily="49" charset="0"/>
            </a:endParaRPr>
          </a:p>
          <a:p>
            <a:r>
              <a:rPr lang="en-US" sz="2400" b="1" dirty="0">
                <a:latin typeface="Consolas" pitchFamily="49" charset="0"/>
                <a:cs typeface="Consolas" pitchFamily="49" charset="0"/>
              </a:rPr>
              <a:t>Increase: 45.55</a:t>
            </a:r>
            <a:endParaRPr lang="bg-BG" sz="2400" b="1" dirty="0">
              <a:latin typeface="Consolas" pitchFamily="49" charset="0"/>
              <a:cs typeface="Consolas" pitchFamily="49" charset="0"/>
            </a:endParaRPr>
          </a:p>
          <a:p>
            <a:r>
              <a:rPr lang="en-US" sz="2400" b="1" dirty="0">
                <a:latin typeface="Consolas" pitchFamily="49" charset="0"/>
                <a:cs typeface="Consolas" pitchFamily="49" charset="0"/>
              </a:rPr>
              <a:t>Invalid operation!</a:t>
            </a:r>
            <a:endParaRPr lang="bg-BG" sz="2400" b="1" dirty="0">
              <a:latin typeface="Consolas" pitchFamily="49" charset="0"/>
              <a:cs typeface="Consolas" pitchFamily="49" charset="0"/>
            </a:endParaRPr>
          </a:p>
          <a:p>
            <a:r>
              <a:rPr lang="en-US" sz="2400" b="1" dirty="0">
                <a:latin typeface="Consolas" pitchFamily="49" charset="0"/>
                <a:cs typeface="Consolas" pitchFamily="49" charset="0"/>
              </a:rPr>
              <a:t>Total: 165.55</a:t>
            </a:r>
            <a:endParaRPr lang="bg-BG" sz="2400" b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819663D3-24FB-4450-9E31-2636F16067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43185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chart: Terminator 2"/>
          <p:cNvSpPr/>
          <p:nvPr/>
        </p:nvSpPr>
        <p:spPr bwMode="auto">
          <a:xfrm>
            <a:off x="4859856" y="418393"/>
            <a:ext cx="2302945" cy="533400"/>
          </a:xfrm>
          <a:prstGeom prst="flowChartTerminator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Read input</a:t>
            </a:r>
            <a:endParaRPr lang="en-US" sz="24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" name="Straight Arrow Connector 10"/>
          <p:cNvCxnSpPr>
            <a:cxnSpLocks/>
            <a:stCxn id="3" idx="2"/>
            <a:endCxn id="12" idx="0"/>
          </p:cNvCxnSpPr>
          <p:nvPr/>
        </p:nvCxnSpPr>
        <p:spPr>
          <a:xfrm flipH="1">
            <a:off x="6009020" y="951794"/>
            <a:ext cx="2309" cy="32740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lowchart: Process 11"/>
          <p:cNvSpPr/>
          <p:nvPr/>
        </p:nvSpPr>
        <p:spPr bwMode="auto">
          <a:xfrm>
            <a:off x="4953000" y="1279194"/>
            <a:ext cx="2112038" cy="762000"/>
          </a:xfrm>
          <a:prstGeom prst="flowChartProcess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balance = 0.0</a:t>
            </a:r>
            <a:endParaRPr lang="en-US" sz="24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4" name="Straight Arrow Connector 13"/>
          <p:cNvCxnSpPr>
            <a:cxnSpLocks/>
            <a:stCxn id="12" idx="2"/>
            <a:endCxn id="15" idx="0"/>
          </p:cNvCxnSpPr>
          <p:nvPr/>
        </p:nvCxnSpPr>
        <p:spPr>
          <a:xfrm>
            <a:off x="6009019" y="2041194"/>
            <a:ext cx="2310" cy="33227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Group 61">
            <a:extLst>
              <a:ext uri="{FF2B5EF4-FFF2-40B4-BE49-F238E27FC236}">
                <a16:creationId xmlns:a16="http://schemas.microsoft.com/office/drawing/2014/main" id="{A3E4B317-EA2D-4FE1-899B-D50140912A2F}"/>
              </a:ext>
            </a:extLst>
          </p:cNvPr>
          <p:cNvGrpSpPr/>
          <p:nvPr/>
        </p:nvGrpSpPr>
        <p:grpSpPr>
          <a:xfrm>
            <a:off x="4911056" y="2373464"/>
            <a:ext cx="2210181" cy="1120472"/>
            <a:chOff x="4909467" y="2525864"/>
            <a:chExt cx="2210181" cy="1120472"/>
          </a:xfrm>
        </p:grpSpPr>
        <p:sp>
          <p:nvSpPr>
            <p:cNvPr id="15" name="Flowchart: Decision 14"/>
            <p:cNvSpPr/>
            <p:nvPr/>
          </p:nvSpPr>
          <p:spPr bwMode="auto">
            <a:xfrm>
              <a:off x="4909467" y="2525864"/>
              <a:ext cx="2200548" cy="1120472"/>
            </a:xfrm>
            <a:prstGeom prst="flowChartDecision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919101" y="2886045"/>
              <a:ext cx="220054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24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input !=</a:t>
              </a:r>
              <a:endParaRPr lang="en-US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cxnSp>
        <p:nvCxnSpPr>
          <p:cNvPr id="19" name="Straight Arrow Connector 18"/>
          <p:cNvCxnSpPr>
            <a:cxnSpLocks/>
            <a:stCxn id="15" idx="2"/>
            <a:endCxn id="24" idx="1"/>
          </p:cNvCxnSpPr>
          <p:nvPr/>
        </p:nvCxnSpPr>
        <p:spPr>
          <a:xfrm>
            <a:off x="6011330" y="3493937"/>
            <a:ext cx="9633" cy="36320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cxnSpLocks/>
            <a:stCxn id="15" idx="3"/>
            <a:endCxn id="92" idx="2"/>
          </p:cNvCxnSpPr>
          <p:nvPr/>
        </p:nvCxnSpPr>
        <p:spPr>
          <a:xfrm>
            <a:off x="7111603" y="2933700"/>
            <a:ext cx="1103548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055885" y="3278979"/>
            <a:ext cx="891973" cy="55666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square" lIns="144000" tIns="108000" rIns="144000" bIns="108000" rtlCol="0">
            <a:spAutoFit/>
          </a:bodyPr>
          <a:lstStyle/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000" dirty="0"/>
              <a:t>true</a:t>
            </a:r>
            <a:endParaRPr lang="en-US" sz="2000" dirty="0"/>
          </a:p>
        </p:txBody>
      </p:sp>
      <p:sp>
        <p:nvSpPr>
          <p:cNvPr id="23" name="TextBox 22"/>
          <p:cNvSpPr txBox="1"/>
          <p:nvPr/>
        </p:nvSpPr>
        <p:spPr>
          <a:xfrm>
            <a:off x="7008062" y="2502321"/>
            <a:ext cx="776330" cy="53973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none" lIns="144000" tIns="108000" rIns="144000" bIns="108000" rtlCol="0">
            <a:spAutoFit/>
          </a:bodyPr>
          <a:lstStyle/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000" dirty="0"/>
              <a:t>false</a:t>
            </a:r>
            <a:endParaRPr lang="en-US" sz="2400" dirty="0"/>
          </a:p>
        </p:txBody>
      </p:sp>
      <p:grpSp>
        <p:nvGrpSpPr>
          <p:cNvPr id="26" name="Group 25"/>
          <p:cNvGrpSpPr/>
          <p:nvPr/>
        </p:nvGrpSpPr>
        <p:grpSpPr>
          <a:xfrm>
            <a:off x="4742689" y="3857139"/>
            <a:ext cx="2556547" cy="685800"/>
            <a:chOff x="4554445" y="3718098"/>
            <a:chExt cx="2514600" cy="685800"/>
          </a:xfrm>
        </p:grpSpPr>
        <p:sp>
          <p:nvSpPr>
            <p:cNvPr id="24" name="Flowchart: Data 23"/>
            <p:cNvSpPr/>
            <p:nvPr/>
          </p:nvSpPr>
          <p:spPr bwMode="auto">
            <a:xfrm>
              <a:off x="4554445" y="3718098"/>
              <a:ext cx="2514600" cy="685800"/>
            </a:xfrm>
            <a:prstGeom prst="flowChartInputOutput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650639" y="3850896"/>
              <a:ext cx="2302945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24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Read amount</a:t>
              </a:r>
              <a:endParaRPr lang="en-US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cxnSp>
        <p:nvCxnSpPr>
          <p:cNvPr id="27" name="Straight Arrow Connector 26"/>
          <p:cNvCxnSpPr>
            <a:stCxn id="24" idx="4"/>
            <a:endCxn id="33" idx="0"/>
          </p:cNvCxnSpPr>
          <p:nvPr/>
        </p:nvCxnSpPr>
        <p:spPr>
          <a:xfrm>
            <a:off x="6020962" y="4542940"/>
            <a:ext cx="15966" cy="34289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Group 60"/>
          <p:cNvGrpSpPr/>
          <p:nvPr/>
        </p:nvGrpSpPr>
        <p:grpSpPr>
          <a:xfrm>
            <a:off x="4911056" y="4885838"/>
            <a:ext cx="2251745" cy="1281272"/>
            <a:chOff x="4607359" y="4738528"/>
            <a:chExt cx="2408772" cy="1104900"/>
          </a:xfrm>
        </p:grpSpPr>
        <p:sp>
          <p:nvSpPr>
            <p:cNvPr id="33" name="Flowchart: Decision 32"/>
            <p:cNvSpPr/>
            <p:nvPr/>
          </p:nvSpPr>
          <p:spPr bwMode="auto">
            <a:xfrm>
              <a:off x="4607359" y="4738528"/>
              <a:ext cx="2408772" cy="1104900"/>
            </a:xfrm>
            <a:prstGeom prst="flowChartDecision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4862226" y="5074420"/>
              <a:ext cx="1930972" cy="39811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24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amount &lt; 0</a:t>
              </a:r>
              <a:endParaRPr lang="en-US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7065037" y="5057937"/>
            <a:ext cx="762000" cy="55666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square" lIns="144000" tIns="108000" rIns="144000" bIns="108000" rtlCol="0">
            <a:spAutoFit/>
          </a:bodyPr>
          <a:lstStyle/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000" dirty="0"/>
              <a:t>true</a:t>
            </a:r>
            <a:endParaRPr lang="en-US" sz="2400" dirty="0"/>
          </a:p>
        </p:txBody>
      </p:sp>
      <p:cxnSp>
        <p:nvCxnSpPr>
          <p:cNvPr id="63" name="Straight Arrow Connector 62"/>
          <p:cNvCxnSpPr>
            <a:stCxn id="33" idx="1"/>
            <a:endCxn id="46" idx="3"/>
          </p:cNvCxnSpPr>
          <p:nvPr/>
        </p:nvCxnSpPr>
        <p:spPr>
          <a:xfrm flipH="1">
            <a:off x="4177843" y="5526474"/>
            <a:ext cx="733213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4391256" y="5080690"/>
            <a:ext cx="725547" cy="50754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none" lIns="144000" tIns="108000" rIns="144000" bIns="108000" rtlCol="0">
            <a:spAutoFit/>
          </a:bodyPr>
          <a:lstStyle/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dirty="0"/>
              <a:t>false</a:t>
            </a:r>
            <a:endParaRPr lang="en-US" dirty="0"/>
          </a:p>
        </p:txBody>
      </p:sp>
      <p:grpSp>
        <p:nvGrpSpPr>
          <p:cNvPr id="80" name="Group 79"/>
          <p:cNvGrpSpPr/>
          <p:nvPr/>
        </p:nvGrpSpPr>
        <p:grpSpPr>
          <a:xfrm>
            <a:off x="1915558" y="4941030"/>
            <a:ext cx="2344681" cy="1170889"/>
            <a:chOff x="1833070" y="4091945"/>
            <a:chExt cx="2344681" cy="1795622"/>
          </a:xfrm>
        </p:grpSpPr>
        <p:grpSp>
          <p:nvGrpSpPr>
            <p:cNvPr id="78" name="Group 77"/>
            <p:cNvGrpSpPr/>
            <p:nvPr/>
          </p:nvGrpSpPr>
          <p:grpSpPr>
            <a:xfrm>
              <a:off x="1915467" y="4091945"/>
              <a:ext cx="2179888" cy="1795622"/>
              <a:chOff x="1843231" y="3930890"/>
              <a:chExt cx="2274661" cy="2133600"/>
            </a:xfrm>
          </p:grpSpPr>
          <p:sp>
            <p:nvSpPr>
              <p:cNvPr id="46" name="Flowchart: Process 45"/>
              <p:cNvSpPr/>
              <p:nvPr/>
            </p:nvSpPr>
            <p:spPr bwMode="auto">
              <a:xfrm>
                <a:off x="1843231" y="3930890"/>
                <a:ext cx="2274661" cy="2133600"/>
              </a:xfrm>
              <a:prstGeom prst="flowChartProcess">
                <a:avLst/>
              </a:prstGeom>
              <a:solidFill>
                <a:schemeClr val="dk2">
                  <a:alpha val="80000"/>
                </a:schemeClr>
              </a:solidFill>
              <a:ln w="19050">
                <a:solidFill>
                  <a:schemeClr val="tx1">
                    <a:lumMod val="75000"/>
                    <a:alpha val="80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001">
                <a:schemeClr val="dk2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1896124" y="4537630"/>
                <a:ext cx="2102244" cy="8412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GB" sz="24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print message,</a:t>
                </a:r>
                <a:endParaRPr lang="en-US" sz="24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79" name="Rectangle 78"/>
            <p:cNvSpPr/>
            <p:nvPr/>
          </p:nvSpPr>
          <p:spPr>
            <a:xfrm>
              <a:off x="1833070" y="4119503"/>
              <a:ext cx="2344681" cy="70798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GB" sz="24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increase balance,</a:t>
              </a:r>
              <a:endParaRPr lang="en-US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cxnSp>
        <p:nvCxnSpPr>
          <p:cNvPr id="82" name="Elbow Connector 81"/>
          <p:cNvCxnSpPr>
            <a:cxnSpLocks/>
            <a:stCxn id="46" idx="0"/>
            <a:endCxn id="15" idx="1"/>
          </p:cNvCxnSpPr>
          <p:nvPr/>
        </p:nvCxnSpPr>
        <p:spPr>
          <a:xfrm rot="5400000" flipH="1" flipV="1">
            <a:off x="2995813" y="3025788"/>
            <a:ext cx="2007329" cy="1823157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8" name="Group 97"/>
          <p:cNvGrpSpPr/>
          <p:nvPr/>
        </p:nvGrpSpPr>
        <p:grpSpPr>
          <a:xfrm>
            <a:off x="7964378" y="2590800"/>
            <a:ext cx="2507730" cy="685800"/>
            <a:chOff x="8162707" y="2474267"/>
            <a:chExt cx="2590800" cy="685800"/>
          </a:xfrm>
        </p:grpSpPr>
        <p:sp>
          <p:nvSpPr>
            <p:cNvPr id="92" name="Flowchart: Data 91"/>
            <p:cNvSpPr/>
            <p:nvPr/>
          </p:nvSpPr>
          <p:spPr bwMode="auto">
            <a:xfrm>
              <a:off x="8162707" y="2474267"/>
              <a:ext cx="2590800" cy="685800"/>
            </a:xfrm>
            <a:prstGeom prst="flowChartInputOutput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7" name="Rectangle 96"/>
            <p:cNvSpPr/>
            <p:nvPr/>
          </p:nvSpPr>
          <p:spPr>
            <a:xfrm>
              <a:off x="8533327" y="2586335"/>
              <a:ext cx="1761101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GB" sz="24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Print output</a:t>
              </a:r>
              <a:endParaRPr lang="en-US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cxnSp>
        <p:nvCxnSpPr>
          <p:cNvPr id="100" name="Elbow Connector 99"/>
          <p:cNvCxnSpPr>
            <a:cxnSpLocks/>
            <a:stCxn id="33" idx="3"/>
            <a:endCxn id="92" idx="4"/>
          </p:cNvCxnSpPr>
          <p:nvPr/>
        </p:nvCxnSpPr>
        <p:spPr>
          <a:xfrm flipV="1">
            <a:off x="7162801" y="3276600"/>
            <a:ext cx="2055443" cy="2249874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Slide Number">
            <a:extLst>
              <a:ext uri="{FF2B5EF4-FFF2-40B4-BE49-F238E27FC236}">
                <a16:creationId xmlns:a16="http://schemas.microsoft.com/office/drawing/2014/main" id="{BFF35FAF-2903-4862-8190-95B5CAEC99F9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35" name="Rectangle 76">
            <a:extLst>
              <a:ext uri="{FF2B5EF4-FFF2-40B4-BE49-F238E27FC236}">
                <a16:creationId xmlns:a16="http://schemas.microsoft.com/office/drawing/2014/main" id="{4B7E2D91-1C6E-4DA1-AF37-88FA028978EE}"/>
              </a:ext>
            </a:extLst>
          </p:cNvPr>
          <p:cNvSpPr/>
          <p:nvPr/>
        </p:nvSpPr>
        <p:spPr>
          <a:xfrm>
            <a:off x="2654615" y="5615978"/>
            <a:ext cx="8435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input</a:t>
            </a:r>
            <a:endParaRPr lang="en-US" sz="24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03915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2" grpId="0"/>
      <p:bldP spid="23" grpId="0"/>
      <p:bldP spid="50" grpId="0"/>
      <p:bldP spid="71" grpId="0"/>
      <p:bldP spid="3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Баланс на сметка – решение</a:t>
            </a:r>
            <a:endParaRPr lang="en-US" dirty="0"/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925529" y="1551287"/>
            <a:ext cx="10340940" cy="4140000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noAutofit/>
          </a:bodyPr>
          <a:lstStyle/>
          <a:p>
            <a:r>
              <a:rPr lang="en-US" sz="2400" b="1" noProof="1">
                <a:latin typeface="Consolas" pitchFamily="49" charset="0"/>
                <a:cs typeface="Consolas" pitchFamily="49" charset="0"/>
              </a:rPr>
              <a:t>string input = Console.ReadLine();</a:t>
            </a:r>
          </a:p>
          <a:p>
            <a:r>
              <a:rPr lang="en-US" sz="2400" b="1" noProof="1">
                <a:latin typeface="Consolas" pitchFamily="49" charset="0"/>
                <a:cs typeface="Consolas" pitchFamily="49" charset="0"/>
              </a:rPr>
              <a:t>double balance = 0.0;</a:t>
            </a:r>
          </a:p>
          <a:p>
            <a:r>
              <a:rPr lang="en-US" sz="2400" b="1" noProof="1">
                <a:solidFill>
                  <a:schemeClr val="accent1"/>
                </a:solidFill>
                <a:latin typeface="Consolas" pitchFamily="49" charset="0"/>
                <a:cs typeface="Consolas" pitchFamily="49" charset="0"/>
              </a:rPr>
              <a:t>while</a:t>
            </a:r>
            <a:r>
              <a:rPr lang="en-US" sz="2400" b="1" noProof="1">
                <a:latin typeface="Consolas" pitchFamily="49" charset="0"/>
                <a:cs typeface="Consolas" pitchFamily="49" charset="0"/>
              </a:rPr>
              <a:t> (input != "NoMoreMoney")</a:t>
            </a:r>
          </a:p>
          <a:p>
            <a:r>
              <a:rPr lang="en-US" sz="2400" b="1" noProof="1">
                <a:solidFill>
                  <a:schemeClr val="accent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2400" b="1" noProof="1">
                <a:latin typeface="Consolas" pitchFamily="49" charset="0"/>
                <a:cs typeface="Consolas" pitchFamily="49" charset="0"/>
              </a:rPr>
              <a:t>  double amount = double.Parse(input);</a:t>
            </a:r>
          </a:p>
          <a:p>
            <a:r>
              <a:rPr lang="en-US" sz="2400" b="1" noProof="1">
                <a:latin typeface="Consolas" pitchFamily="49" charset="0"/>
                <a:cs typeface="Consolas" pitchFamily="49" charset="0"/>
              </a:rPr>
              <a:t>  if (amount &lt; 0) { </a:t>
            </a:r>
            <a:r>
              <a:rPr lang="en-US" sz="2400" b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//TODO: Print output and exit the loop </a:t>
            </a:r>
            <a:r>
              <a:rPr lang="en-US" sz="2400" b="1" noProof="1">
                <a:latin typeface="Consolas" pitchFamily="49" charset="0"/>
                <a:cs typeface="Consolas" pitchFamily="49" charset="0"/>
              </a:rPr>
              <a:t>}</a:t>
            </a:r>
          </a:p>
          <a:p>
            <a:r>
              <a:rPr lang="en-US" sz="2400" b="1" noProof="1">
                <a:latin typeface="Consolas" pitchFamily="49" charset="0"/>
                <a:cs typeface="Consolas" pitchFamily="49" charset="0"/>
              </a:rPr>
              <a:t>  balance += amount;</a:t>
            </a:r>
          </a:p>
          <a:p>
            <a:r>
              <a:rPr lang="en-US" sz="2400" b="1" noProof="1">
                <a:latin typeface="Consolas" pitchFamily="49" charset="0"/>
                <a:cs typeface="Consolas" pitchFamily="49" charset="0"/>
              </a:rPr>
              <a:t>  Console.WriteLine($"Increase: {amount:F2}");</a:t>
            </a:r>
          </a:p>
          <a:p>
            <a:r>
              <a:rPr lang="en-US" sz="2400" b="1" noProof="1">
                <a:latin typeface="Consolas" pitchFamily="49" charset="0"/>
                <a:cs typeface="Consolas" pitchFamily="49" charset="0"/>
              </a:rPr>
              <a:t>  input = Console.ReadLine();</a:t>
            </a:r>
          </a:p>
          <a:p>
            <a:r>
              <a:rPr lang="en-US" sz="2400" b="1" noProof="1">
                <a:solidFill>
                  <a:schemeClr val="accent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r>
              <a:rPr lang="en-US" sz="2400" b="1" noProof="1">
                <a:latin typeface="Consolas" pitchFamily="49" charset="0"/>
                <a:cs typeface="Consolas" pitchFamily="49" charset="0"/>
              </a:rPr>
              <a:t>Console.WriteLine($"Total: {balance:F2}");</a:t>
            </a:r>
            <a:endParaRPr lang="bg-BG" sz="2400" b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ADB6873D-A2C6-4D96-810A-0786A60B75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458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8294307" cy="5528766"/>
          </a:xfrm>
        </p:spPr>
        <p:txBody>
          <a:bodyPr>
            <a:normAutofit/>
          </a:bodyPr>
          <a:lstStyle/>
          <a:p>
            <a:pPr latinLnBrk="0"/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Напишете програма, която: </a:t>
            </a:r>
          </a:p>
          <a:p>
            <a:pPr lvl="1" latinLnBrk="0"/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Прочита</a:t>
            </a:r>
            <a:r>
              <a:rPr lang="bg-BG" sz="32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>
                <a:latin typeface="Consolas" panose="020B0609020204030204" pitchFamily="49" charset="0"/>
                <a:cs typeface="Calibri" panose="020F0502020204030204" pitchFamily="34" charset="0"/>
              </a:rPr>
              <a:t>n</a:t>
            </a:r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bg-BG" sz="32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последователни</a:t>
            </a:r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 пъти числа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докато получи команда </a:t>
            </a: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"Stop"</a:t>
            </a:r>
            <a:endParaRPr lang="bg-BG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latinLnBrk="0"/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Намира </a:t>
            </a:r>
            <a:r>
              <a:rPr lang="bg-BG" sz="32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най-голямото </a:t>
            </a:r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измежду тях</a:t>
            </a:r>
          </a:p>
          <a:p>
            <a:pPr latinLnBrk="0"/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Примерен вход и изход: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Най-голямо число – пример</a:t>
            </a:r>
            <a:endParaRPr lang="en-US" dirty="0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4803273" y="4605718"/>
            <a:ext cx="923021" cy="1805462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>
            <a:noAutofit/>
          </a:bodyPr>
          <a:lstStyle/>
          <a:p>
            <a:pPr algn="ctr" eaLnBrk="0" hangingPunct="0">
              <a:spcBef>
                <a:spcPts val="3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-</a:t>
            </a:r>
            <a:r>
              <a:rPr lang="bg-BG" sz="2600" b="1" noProof="1">
                <a:latin typeface="Consolas" pitchFamily="49" charset="0"/>
                <a:cs typeface="Consolas" pitchFamily="49" charset="0"/>
              </a:rPr>
              <a:t>10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600" b="1" noProof="1">
                <a:latin typeface="Consolas" pitchFamily="49" charset="0"/>
                <a:cs typeface="Consolas" pitchFamily="49" charset="0"/>
              </a:rPr>
              <a:t>20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-</a:t>
            </a:r>
            <a:r>
              <a:rPr lang="bg-BG" sz="2600" b="1" noProof="1">
                <a:latin typeface="Consolas" pitchFamily="49" charset="0"/>
                <a:cs typeface="Consolas" pitchFamily="49" charset="0"/>
              </a:rPr>
              <a:t>30</a:t>
            </a:r>
            <a:endParaRPr lang="en-US" sz="2600" b="1" noProof="1">
              <a:latin typeface="Consolas" pitchFamily="49" charset="0"/>
              <a:cs typeface="Consolas" pitchFamily="49" charset="0"/>
            </a:endParaRP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Stop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549297" y="5223263"/>
            <a:ext cx="792379" cy="570375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>
            <a:no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600" b="1" noProof="1">
                <a:latin typeface="Consolas" pitchFamily="49" charset="0"/>
                <a:cs typeface="Consolas" pitchFamily="49" charset="0"/>
              </a:rPr>
              <a:t>20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61397" y="5356049"/>
            <a:ext cx="4572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089874" y="4508939"/>
            <a:ext cx="914399" cy="2022779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>
            <a:noAutofit/>
          </a:bodyPr>
          <a:lstStyle/>
          <a:p>
            <a:pPr algn="ctr" eaLnBrk="0" hangingPunct="0">
              <a:spcBef>
                <a:spcPts val="3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10</a:t>
            </a:r>
            <a:r>
              <a:rPr lang="bg-BG" sz="2600" b="1" noProof="1">
                <a:latin typeface="Consolas" pitchFamily="49" charset="0"/>
                <a:cs typeface="Consolas" pitchFamily="49" charset="0"/>
              </a:rPr>
              <a:t>0</a:t>
            </a:r>
            <a:endParaRPr lang="en-US" sz="2600" b="1" noProof="1">
              <a:latin typeface="Consolas" pitchFamily="49" charset="0"/>
              <a:cs typeface="Consolas" pitchFamily="49" charset="0"/>
            </a:endParaRP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600" b="1" noProof="1">
                <a:latin typeface="Consolas" pitchFamily="49" charset="0"/>
                <a:cs typeface="Consolas" pitchFamily="49" charset="0"/>
              </a:rPr>
              <a:t>99</a:t>
            </a:r>
            <a:endParaRPr lang="en-US" sz="2600" b="1" noProof="1">
              <a:latin typeface="Consolas" pitchFamily="49" charset="0"/>
              <a:cs typeface="Consolas" pitchFamily="49" charset="0"/>
            </a:endParaRP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80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70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Stop</a:t>
            </a: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2839484" y="5223263"/>
            <a:ext cx="792379" cy="570375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>
            <a:no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600" b="1" noProof="1">
                <a:latin typeface="Consolas" pitchFamily="49" charset="0"/>
                <a:cs typeface="Consolas" pitchFamily="49" charset="0"/>
              </a:rPr>
              <a:t>100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239376" y="5356049"/>
            <a:ext cx="4572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8484709" y="4438837"/>
            <a:ext cx="914399" cy="2092881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>
            <a:spAutoFit/>
          </a:bodyPr>
          <a:lstStyle/>
          <a:p>
            <a:pPr algn="ctr" eaLnBrk="0" hangingPunct="0">
              <a:spcBef>
                <a:spcPts val="3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600" b="1" noProof="1">
                <a:latin typeface="Consolas" pitchFamily="49" charset="0"/>
                <a:cs typeface="Consolas" pitchFamily="49" charset="0"/>
              </a:rPr>
              <a:t>45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600" b="1" noProof="1">
                <a:latin typeface="Consolas" pitchFamily="49" charset="0"/>
                <a:cs typeface="Consolas" pitchFamily="49" charset="0"/>
              </a:rPr>
              <a:t>-20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600" b="1" noProof="1">
                <a:latin typeface="Consolas" pitchFamily="49" charset="0"/>
                <a:cs typeface="Consolas" pitchFamily="49" charset="0"/>
              </a:rPr>
              <a:t>7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600" b="1" noProof="1">
                <a:latin typeface="Consolas" pitchFamily="49" charset="0"/>
                <a:cs typeface="Consolas" pitchFamily="49" charset="0"/>
              </a:rPr>
              <a:t>99</a:t>
            </a:r>
            <a:endParaRPr lang="en-US" sz="2600" b="1" noProof="1">
              <a:latin typeface="Consolas" pitchFamily="49" charset="0"/>
              <a:cs typeface="Consolas" pitchFamily="49" charset="0"/>
            </a:endParaRP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Stop</a:t>
            </a: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0189674" y="5220273"/>
            <a:ext cx="792379" cy="576352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>
            <a:no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600" b="1" noProof="1">
                <a:latin typeface="Consolas" pitchFamily="49" charset="0"/>
                <a:cs typeface="Consolas" pitchFamily="49" charset="0"/>
              </a:rPr>
              <a:t>99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600646" y="5356049"/>
            <a:ext cx="4572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pic>
        <p:nvPicPr>
          <p:cNvPr id="18" name="Picture 15">
            <a:extLst>
              <a:ext uri="{FF2B5EF4-FFF2-40B4-BE49-F238E27FC236}">
                <a16:creationId xmlns:a16="http://schemas.microsoft.com/office/drawing/2014/main" id="{6D748AC1-4A1F-4D7F-89B2-1A8352A83A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1274" y="1437509"/>
            <a:ext cx="967122" cy="1233320"/>
          </a:xfrm>
          <a:prstGeom prst="rect">
            <a:avLst/>
          </a:prstGeom>
        </p:spPr>
      </p:pic>
      <p:pic>
        <p:nvPicPr>
          <p:cNvPr id="19" name="Picture 16">
            <a:extLst>
              <a:ext uri="{FF2B5EF4-FFF2-40B4-BE49-F238E27FC236}">
                <a16:creationId xmlns:a16="http://schemas.microsoft.com/office/drawing/2014/main" id="{A03C9C7D-81B8-4BFF-A97B-8F7DC6942D1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7215" y="2661305"/>
            <a:ext cx="597509" cy="892433"/>
          </a:xfrm>
          <a:prstGeom prst="rect">
            <a:avLst/>
          </a:prstGeom>
        </p:spPr>
      </p:pic>
      <p:sp>
        <p:nvSpPr>
          <p:cNvPr id="16" name="Slide Number">
            <a:extLst>
              <a:ext uri="{FF2B5EF4-FFF2-40B4-BE49-F238E27FC236}">
                <a16:creationId xmlns:a16="http://schemas.microsoft.com/office/drawing/2014/main" id="{B8AA65F4-1F1D-4611-93C1-4F8ABC01E6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99506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Най-голямо число – решение</a:t>
            </a:r>
            <a:endParaRPr lang="en-US" dirty="0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2766000" y="1449000"/>
            <a:ext cx="6030974" cy="4893647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 b="1" noProof="1">
                <a:latin typeface="Consolas" pitchFamily="49" charset="0"/>
                <a:cs typeface="Consolas" pitchFamily="49" charset="0"/>
              </a:rPr>
              <a:t>string input = Console.ReadLine();</a:t>
            </a:r>
          </a:p>
          <a:p>
            <a:r>
              <a:rPr lang="en-US" sz="2400" b="1" noProof="1">
                <a:latin typeface="Consolas" pitchFamily="49" charset="0"/>
                <a:cs typeface="Consolas" pitchFamily="49" charset="0"/>
              </a:rPr>
              <a:t>int max = int.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MinValue</a:t>
            </a:r>
            <a:r>
              <a:rPr lang="en-US" sz="2400" b="1" noProof="1">
                <a:latin typeface="Consolas" pitchFamily="49" charset="0"/>
                <a:cs typeface="Consolas" pitchFamily="49" charset="0"/>
              </a:rPr>
              <a:t>;</a:t>
            </a:r>
          </a:p>
          <a:p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while</a:t>
            </a:r>
            <a:r>
              <a:rPr lang="en-US" sz="2400" b="1" noProof="1">
                <a:latin typeface="Consolas" pitchFamily="49" charset="0"/>
                <a:cs typeface="Consolas" pitchFamily="49" charset="0"/>
              </a:rPr>
              <a:t> (input != "Stop") </a:t>
            </a:r>
          </a:p>
          <a:p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2400" b="1" noProof="1">
                <a:latin typeface="Consolas" pitchFamily="49" charset="0"/>
                <a:cs typeface="Consolas" pitchFamily="49" charset="0"/>
              </a:rPr>
              <a:t>  </a:t>
            </a:r>
            <a:r>
              <a:rPr lang="en-US" sz="2400" b="1" noProof="1">
                <a:latin typeface="Consolas" pitchFamily="49" charset="0"/>
              </a:rPr>
              <a:t>int num = </a:t>
            </a:r>
            <a:r>
              <a:rPr lang="en-US" sz="2400" b="1" noProof="1">
                <a:latin typeface="Consolas" pitchFamily="49" charset="0"/>
                <a:cs typeface="Consolas" pitchFamily="49" charset="0"/>
              </a:rPr>
              <a:t>int.Parse(input);</a:t>
            </a:r>
          </a:p>
          <a:p>
            <a:r>
              <a:rPr lang="en-US" sz="2400" b="1" noProof="1">
                <a:latin typeface="Consolas" pitchFamily="49" charset="0"/>
                <a:cs typeface="Consolas" pitchFamily="49" charset="0"/>
              </a:rPr>
              <a:t>  </a:t>
            </a:r>
          </a:p>
          <a:p>
            <a:r>
              <a:rPr lang="bg-BG" sz="2400" b="1" noProof="1">
                <a:latin typeface="Consolas" pitchFamily="49" charset="0"/>
                <a:cs typeface="Consolas" pitchFamily="49" charset="0"/>
              </a:rPr>
              <a:t>  </a:t>
            </a:r>
            <a:r>
              <a:rPr lang="en-US" sz="2400" b="1" noProof="1">
                <a:latin typeface="Consolas" pitchFamily="49" charset="0"/>
                <a:cs typeface="Consolas" pitchFamily="49" charset="0"/>
              </a:rPr>
              <a:t>if (num &gt; max)</a:t>
            </a:r>
          </a:p>
          <a:p>
            <a:r>
              <a:rPr lang="en-US" sz="2400" b="1" noProof="1">
                <a:latin typeface="Consolas" pitchFamily="49" charset="0"/>
                <a:cs typeface="Consolas" pitchFamily="49" charset="0"/>
              </a:rPr>
              <a:t>  {</a:t>
            </a:r>
          </a:p>
          <a:p>
            <a:r>
              <a:rPr lang="en-US" sz="2400" b="1" noProof="1">
                <a:latin typeface="Consolas" pitchFamily="49" charset="0"/>
                <a:cs typeface="Consolas" pitchFamily="49" charset="0"/>
              </a:rPr>
              <a:t>    max = num;</a:t>
            </a:r>
          </a:p>
          <a:p>
            <a:r>
              <a:rPr lang="en-US" sz="2400" b="1" noProof="1">
                <a:latin typeface="Consolas" pitchFamily="49" charset="0"/>
                <a:cs typeface="Consolas" pitchFamily="49" charset="0"/>
              </a:rPr>
              <a:t>  }</a:t>
            </a:r>
          </a:p>
          <a:p>
            <a:r>
              <a:rPr lang="en-US" sz="2400" b="1" noProof="1">
                <a:latin typeface="Consolas" pitchFamily="49" charset="0"/>
                <a:cs typeface="Consolas" pitchFamily="49" charset="0"/>
              </a:rPr>
              <a:t>  input = Console.ReadLine();</a:t>
            </a:r>
          </a:p>
          <a:p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r>
              <a:rPr lang="en-US" sz="2400" b="1" noProof="1">
                <a:latin typeface="Consolas" pitchFamily="49" charset="0"/>
                <a:cs typeface="Consolas" pitchFamily="49" charset="0"/>
              </a:rPr>
              <a:t>Console.WriteLine(max);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41536ACC-93F0-4009-B0BD-9030FC01BB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23485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96424F38-2F93-4596-A7C9-D1D57DB659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8016015" cy="5528766"/>
          </a:xfrm>
        </p:spPr>
        <p:txBody>
          <a:bodyPr>
            <a:normAutofit/>
          </a:bodyPr>
          <a:lstStyle/>
          <a:p>
            <a:pPr latinLnBrk="0"/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Напишете програма, която: </a:t>
            </a:r>
          </a:p>
          <a:p>
            <a:pPr lvl="1"/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Прочита</a:t>
            </a:r>
            <a:r>
              <a:rPr lang="bg-BG" sz="32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>
                <a:latin typeface="Consolas" panose="020B0609020204030204" pitchFamily="49" charset="0"/>
                <a:cs typeface="Calibri" panose="020F0502020204030204" pitchFamily="34" charset="0"/>
              </a:rPr>
              <a:t>n</a:t>
            </a:r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bg-BG" sz="32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последователни</a:t>
            </a:r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 пъти числа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докато получи команда </a:t>
            </a: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"</a:t>
            </a:r>
            <a:r>
              <a:rPr lang="en-US" sz="3200" b="1" dirty="0">
                <a:latin typeface="Consolas" panose="020B0609020204030204" pitchFamily="49" charset="0"/>
                <a:cs typeface="Calibri" panose="020F0502020204030204" pitchFamily="34" charset="0"/>
              </a:rPr>
              <a:t>Stop</a:t>
            </a: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"</a:t>
            </a:r>
            <a:endParaRPr lang="bg-BG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latinLnBrk="0"/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Намира </a:t>
            </a:r>
            <a:r>
              <a:rPr lang="bg-BG" sz="32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най-малкото </a:t>
            </a:r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измежду тях</a:t>
            </a:r>
          </a:p>
          <a:p>
            <a:pPr latinLnBrk="0"/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Примерен вход и изход: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Най-малко число – условие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450244" y="5277583"/>
            <a:ext cx="788756" cy="491902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>
            <a:no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600" b="1" noProof="1">
                <a:latin typeface="Consolas" pitchFamily="49" charset="0"/>
                <a:cs typeface="Consolas" pitchFamily="49" charset="0"/>
              </a:rPr>
              <a:t>-30</a:t>
            </a: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2789022" y="5263366"/>
            <a:ext cx="792379" cy="491902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no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70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211411" y="5352376"/>
            <a:ext cx="430887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0191878" y="5241572"/>
            <a:ext cx="780922" cy="491903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no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600" b="1" noProof="1">
                <a:latin typeface="Consolas" pitchFamily="49" charset="0"/>
                <a:cs typeface="Consolas" pitchFamily="49" charset="0"/>
              </a:rPr>
              <a:t>-20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677400" y="5325670"/>
            <a:ext cx="408779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21" name="Right Arrow 11">
            <a:extLst>
              <a:ext uri="{FF2B5EF4-FFF2-40B4-BE49-F238E27FC236}">
                <a16:creationId xmlns:a16="http://schemas.microsoft.com/office/drawing/2014/main" id="{96088C30-7FD6-4579-9FB7-2ED4DD3B69DC}"/>
              </a:ext>
            </a:extLst>
          </p:cNvPr>
          <p:cNvSpPr/>
          <p:nvPr/>
        </p:nvSpPr>
        <p:spPr>
          <a:xfrm>
            <a:off x="5918109" y="5371135"/>
            <a:ext cx="400947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pic>
        <p:nvPicPr>
          <p:cNvPr id="17" name="Picture 15">
            <a:extLst>
              <a:ext uri="{FF2B5EF4-FFF2-40B4-BE49-F238E27FC236}">
                <a16:creationId xmlns:a16="http://schemas.microsoft.com/office/drawing/2014/main" id="{6232FAB1-E8BB-4524-AA9C-AF0EE1AB1AF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2401" y="2494612"/>
            <a:ext cx="773743" cy="1239188"/>
          </a:xfrm>
          <a:prstGeom prst="rect">
            <a:avLst/>
          </a:prstGeom>
        </p:spPr>
      </p:pic>
      <p:pic>
        <p:nvPicPr>
          <p:cNvPr id="19" name="Picture 17">
            <a:extLst>
              <a:ext uri="{FF2B5EF4-FFF2-40B4-BE49-F238E27FC236}">
                <a16:creationId xmlns:a16="http://schemas.microsoft.com/office/drawing/2014/main" id="{510C2ACC-86AE-4C15-9CAB-EA4927C4DD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1130" y="1542113"/>
            <a:ext cx="891270" cy="1279335"/>
          </a:xfrm>
          <a:prstGeom prst="rect">
            <a:avLst/>
          </a:prstGeom>
        </p:spPr>
      </p:pic>
      <p:sp>
        <p:nvSpPr>
          <p:cNvPr id="16" name="Slide Number">
            <a:extLst>
              <a:ext uri="{FF2B5EF4-FFF2-40B4-BE49-F238E27FC236}">
                <a16:creationId xmlns:a16="http://schemas.microsoft.com/office/drawing/2014/main" id="{2A2262D9-7203-4482-905C-0E899F7B09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29</a:t>
            </a:fld>
            <a:endParaRPr lang="en-US" noProof="0" dirty="0"/>
          </a:p>
        </p:txBody>
      </p:sp>
      <p:sp>
        <p:nvSpPr>
          <p:cNvPr id="18" name="Rectangle 6">
            <a:extLst>
              <a:ext uri="{FF2B5EF4-FFF2-40B4-BE49-F238E27FC236}">
                <a16:creationId xmlns:a16="http://schemas.microsoft.com/office/drawing/2014/main" id="{6B0FC36E-6F84-4810-A74F-0F5DF0B8B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3273" y="4605718"/>
            <a:ext cx="923021" cy="1805462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>
            <a:noAutofit/>
          </a:bodyPr>
          <a:lstStyle/>
          <a:p>
            <a:pPr algn="ctr" eaLnBrk="0" hangingPunct="0">
              <a:spcBef>
                <a:spcPts val="3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-</a:t>
            </a:r>
            <a:r>
              <a:rPr lang="bg-BG" sz="2600" b="1" noProof="1">
                <a:latin typeface="Consolas" pitchFamily="49" charset="0"/>
                <a:cs typeface="Consolas" pitchFamily="49" charset="0"/>
              </a:rPr>
              <a:t>10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600" b="1" noProof="1">
                <a:latin typeface="Consolas" pitchFamily="49" charset="0"/>
                <a:cs typeface="Consolas" pitchFamily="49" charset="0"/>
              </a:rPr>
              <a:t>20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-</a:t>
            </a:r>
            <a:r>
              <a:rPr lang="bg-BG" sz="2600" b="1" noProof="1">
                <a:latin typeface="Consolas" pitchFamily="49" charset="0"/>
                <a:cs typeface="Consolas" pitchFamily="49" charset="0"/>
              </a:rPr>
              <a:t>30</a:t>
            </a:r>
            <a:endParaRPr lang="en-US" sz="2600" b="1" noProof="1">
              <a:latin typeface="Consolas" pitchFamily="49" charset="0"/>
              <a:cs typeface="Consolas" pitchFamily="49" charset="0"/>
            </a:endParaRP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Stop</a:t>
            </a:r>
          </a:p>
        </p:txBody>
      </p:sp>
      <p:sp>
        <p:nvSpPr>
          <p:cNvPr id="22" name="Rectangle 9">
            <a:extLst>
              <a:ext uri="{FF2B5EF4-FFF2-40B4-BE49-F238E27FC236}">
                <a16:creationId xmlns:a16="http://schemas.microsoft.com/office/drawing/2014/main" id="{C8005BF8-1EA4-4FCC-8788-34D6C8B782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9874" y="4508939"/>
            <a:ext cx="914399" cy="2022779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>
            <a:noAutofit/>
          </a:bodyPr>
          <a:lstStyle/>
          <a:p>
            <a:pPr algn="ctr" eaLnBrk="0" hangingPunct="0">
              <a:spcBef>
                <a:spcPts val="3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10</a:t>
            </a:r>
            <a:r>
              <a:rPr lang="bg-BG" sz="2600" b="1" noProof="1">
                <a:latin typeface="Consolas" pitchFamily="49" charset="0"/>
                <a:cs typeface="Consolas" pitchFamily="49" charset="0"/>
              </a:rPr>
              <a:t>0</a:t>
            </a:r>
            <a:endParaRPr lang="en-US" sz="2600" b="1" noProof="1">
              <a:latin typeface="Consolas" pitchFamily="49" charset="0"/>
              <a:cs typeface="Consolas" pitchFamily="49" charset="0"/>
            </a:endParaRP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600" b="1" noProof="1">
                <a:latin typeface="Consolas" pitchFamily="49" charset="0"/>
                <a:cs typeface="Consolas" pitchFamily="49" charset="0"/>
              </a:rPr>
              <a:t>99</a:t>
            </a:r>
            <a:endParaRPr lang="en-US" sz="2600" b="1" noProof="1">
              <a:latin typeface="Consolas" pitchFamily="49" charset="0"/>
              <a:cs typeface="Consolas" pitchFamily="49" charset="0"/>
            </a:endParaRP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80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70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Stop</a:t>
            </a:r>
          </a:p>
        </p:txBody>
      </p:sp>
      <p:sp>
        <p:nvSpPr>
          <p:cNvPr id="23" name="Rectangle 12">
            <a:extLst>
              <a:ext uri="{FF2B5EF4-FFF2-40B4-BE49-F238E27FC236}">
                <a16:creationId xmlns:a16="http://schemas.microsoft.com/office/drawing/2014/main" id="{92B93BF7-821A-4522-A414-93837D2B6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84709" y="4438837"/>
            <a:ext cx="914399" cy="2092881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>
            <a:spAutoFit/>
          </a:bodyPr>
          <a:lstStyle/>
          <a:p>
            <a:pPr algn="ctr" eaLnBrk="0" hangingPunct="0">
              <a:spcBef>
                <a:spcPts val="3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600" b="1" noProof="1">
                <a:latin typeface="Consolas" pitchFamily="49" charset="0"/>
                <a:cs typeface="Consolas" pitchFamily="49" charset="0"/>
              </a:rPr>
              <a:t>45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600" b="1" noProof="1">
                <a:latin typeface="Consolas" pitchFamily="49" charset="0"/>
                <a:cs typeface="Consolas" pitchFamily="49" charset="0"/>
              </a:rPr>
              <a:t>-20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600" b="1" noProof="1">
                <a:latin typeface="Consolas" pitchFamily="49" charset="0"/>
                <a:cs typeface="Consolas" pitchFamily="49" charset="0"/>
              </a:rPr>
              <a:t>7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600" b="1" noProof="1">
                <a:latin typeface="Consolas" pitchFamily="49" charset="0"/>
                <a:cs typeface="Consolas" pitchFamily="49" charset="0"/>
              </a:rPr>
              <a:t>99</a:t>
            </a:r>
            <a:endParaRPr lang="en-US" sz="2600" b="1" noProof="1">
              <a:latin typeface="Consolas" pitchFamily="49" charset="0"/>
              <a:cs typeface="Consolas" pitchFamily="49" charset="0"/>
            </a:endParaRP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Stop</a:t>
            </a:r>
          </a:p>
        </p:txBody>
      </p:sp>
    </p:spTree>
    <p:extLst>
      <p:ext uri="{BB962C8B-B14F-4D97-AF65-F5344CB8AC3E}">
        <p14:creationId xmlns:p14="http://schemas.microsoft.com/office/powerpoint/2010/main" val="3824108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2" grpId="0" animBg="1"/>
      <p:bldP spid="14" grpId="0" animBg="1"/>
      <p:bldP spid="15" grpId="0" animBg="1"/>
      <p:bldP spid="21" grpId="0" animBg="1"/>
      <p:bldP spid="18" grpId="0" animBg="1"/>
      <p:bldP spid="22" grpId="0" animBg="1"/>
      <p:bldP spid="2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Най-малко число – решение</a:t>
            </a:r>
            <a:endParaRPr lang="en-US" dirty="0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2473500" y="1836256"/>
            <a:ext cx="7245000" cy="3185487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900" b="1" noProof="1">
                <a:latin typeface="Consolas" pitchFamily="49" charset="0"/>
                <a:cs typeface="Consolas" pitchFamily="49" charset="0"/>
              </a:rPr>
              <a:t>string input = Console.ReadLine();</a:t>
            </a:r>
          </a:p>
          <a:p>
            <a:r>
              <a:rPr lang="en-US" sz="2900" b="1" noProof="1">
                <a:latin typeface="Consolas" pitchFamily="49" charset="0"/>
                <a:cs typeface="Consolas" pitchFamily="49" charset="0"/>
              </a:rPr>
              <a:t>int min = int.</a:t>
            </a:r>
            <a:r>
              <a:rPr lang="en-US" sz="2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MaxValue</a:t>
            </a:r>
            <a:r>
              <a:rPr lang="en-US" sz="2900" b="1" noProof="1">
                <a:latin typeface="Consolas" pitchFamily="49" charset="0"/>
                <a:cs typeface="Consolas" pitchFamily="49" charset="0"/>
              </a:rPr>
              <a:t>;</a:t>
            </a:r>
          </a:p>
          <a:p>
            <a:r>
              <a:rPr lang="en-US" sz="2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while</a:t>
            </a:r>
            <a:r>
              <a:rPr lang="en-US" sz="2900" b="1" noProof="1">
                <a:latin typeface="Consolas" pitchFamily="49" charset="0"/>
                <a:cs typeface="Consolas" pitchFamily="49" charset="0"/>
              </a:rPr>
              <a:t> (input != "Stop") </a:t>
            </a:r>
          </a:p>
          <a:p>
            <a:r>
              <a:rPr lang="en-US" sz="2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2800" b="1" noProof="1">
                <a:solidFill>
                  <a:schemeClr val="accent4"/>
                </a:solidFill>
                <a:latin typeface="Consolas" pitchFamily="49" charset="0"/>
                <a:cs typeface="Consolas" pitchFamily="49" charset="0"/>
              </a:rPr>
              <a:t>  </a:t>
            </a:r>
            <a:r>
              <a:rPr lang="en-US" sz="2800" b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//TODO: Use</a:t>
            </a:r>
            <a:r>
              <a:rPr lang="bg-BG" sz="2800" b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800" b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logic similar</a:t>
            </a:r>
          </a:p>
          <a:p>
            <a:r>
              <a:rPr lang="en-US" sz="2800" b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    to the previous problem</a:t>
            </a:r>
            <a:endParaRPr lang="en-US" sz="2900" b="1" noProof="1">
              <a:solidFill>
                <a:schemeClr val="accent2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sz="2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ECF8F566-C445-4AC2-8E9B-C7D826E0B7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12064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200" dirty="0"/>
              <a:t>Оператор 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continue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/>
              <a:t>– </a:t>
            </a:r>
            <a:r>
              <a:rPr lang="bg-BG" sz="3200" dirty="0"/>
              <a:t>преминава към следващата итерация на цикъла</a:t>
            </a:r>
            <a:endParaRPr lang="en-US" sz="32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Продължаване на цикъла</a:t>
            </a:r>
            <a:endParaRPr lang="en-US" dirty="0"/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1911000" y="2241095"/>
            <a:ext cx="4804566" cy="4154984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 b="1" dirty="0">
                <a:latin typeface="Consolas" pitchFamily="49" charset="0"/>
                <a:cs typeface="Consolas" pitchFamily="49" charset="0"/>
              </a:rPr>
              <a:t>int i = 0;</a:t>
            </a:r>
            <a:endParaRPr lang="bg-BG" sz="2400" b="1" dirty="0">
              <a:latin typeface="Consolas" pitchFamily="49" charset="0"/>
              <a:cs typeface="Consolas" pitchFamily="49" charset="0"/>
            </a:endParaRPr>
          </a:p>
          <a:p>
            <a:r>
              <a:rPr lang="nn-NO" sz="2400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while</a:t>
            </a:r>
            <a:r>
              <a:rPr lang="nn-NO" sz="2400" dirty="0"/>
              <a:t> </a:t>
            </a:r>
            <a:r>
              <a:rPr lang="nn-NO" sz="2400" b="1" dirty="0">
                <a:latin typeface="Consolas" pitchFamily="49" charset="0"/>
                <a:cs typeface="Consolas" pitchFamily="49" charset="0"/>
              </a:rPr>
              <a:t>(i &lt; 10)</a:t>
            </a:r>
            <a:endParaRPr lang="bg-BG" sz="2400" b="1" dirty="0">
              <a:latin typeface="Consolas" pitchFamily="49" charset="0"/>
              <a:cs typeface="Consolas" pitchFamily="49" charset="0"/>
            </a:endParaRPr>
          </a:p>
          <a:p>
            <a:r>
              <a:rPr lang="nn-NO" sz="2400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bg-BG" sz="2400" b="1" dirty="0">
                <a:latin typeface="Consolas" pitchFamily="49" charset="0"/>
                <a:cs typeface="Consolas" pitchFamily="49" charset="0"/>
              </a:rPr>
              <a:t>  </a:t>
            </a:r>
            <a:r>
              <a:rPr lang="nn-NO" sz="2400" b="1" dirty="0">
                <a:latin typeface="Consolas" pitchFamily="49" charset="0"/>
                <a:cs typeface="Consolas" pitchFamily="49" charset="0"/>
              </a:rPr>
              <a:t>if (i % 2 == 0)</a:t>
            </a:r>
          </a:p>
          <a:p>
            <a:r>
              <a:rPr lang="nn-NO" sz="2400" b="1" dirty="0">
                <a:latin typeface="Consolas" pitchFamily="49" charset="0"/>
                <a:cs typeface="Consolas" pitchFamily="49" charset="0"/>
              </a:rPr>
              <a:t>  {</a:t>
            </a:r>
            <a:endParaRPr lang="bg-BG" sz="2400" b="1" dirty="0">
              <a:latin typeface="Consolas" pitchFamily="49" charset="0"/>
              <a:cs typeface="Consolas" pitchFamily="49" charset="0"/>
            </a:endParaRPr>
          </a:p>
          <a:p>
            <a:r>
              <a:rPr lang="bg-BG" sz="2400" b="1" dirty="0">
                <a:latin typeface="Consolas" pitchFamily="49" charset="0"/>
                <a:cs typeface="Consolas" pitchFamily="49" charset="0"/>
              </a:rPr>
              <a:t>    </a:t>
            </a:r>
            <a:r>
              <a:rPr lang="nn-NO" sz="2400" b="1" dirty="0">
                <a:latin typeface="Consolas" pitchFamily="49" charset="0"/>
                <a:cs typeface="Consolas" pitchFamily="49" charset="0"/>
              </a:rPr>
              <a:t>i++;</a:t>
            </a:r>
            <a:endParaRPr lang="bg-BG" sz="2400" b="1" dirty="0">
              <a:latin typeface="Consolas" pitchFamily="49" charset="0"/>
              <a:cs typeface="Consolas" pitchFamily="49" charset="0"/>
            </a:endParaRPr>
          </a:p>
          <a:p>
            <a:r>
              <a:rPr lang="nn-NO" sz="2400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continue;</a:t>
            </a:r>
          </a:p>
          <a:p>
            <a:r>
              <a:rPr lang="nn-NO" sz="2400" b="1" dirty="0">
                <a:latin typeface="Consolas" pitchFamily="49" charset="0"/>
                <a:cs typeface="Consolas" pitchFamily="49" charset="0"/>
              </a:rPr>
              <a:t>  }</a:t>
            </a:r>
          </a:p>
          <a:p>
            <a:r>
              <a:rPr lang="en-US" sz="2400" b="1" noProof="1">
                <a:latin typeface="Consolas" pitchFamily="49" charset="0"/>
                <a:cs typeface="Consolas" pitchFamily="49" charset="0"/>
              </a:rPr>
              <a:t>  Console.WriteLine(i);</a:t>
            </a:r>
            <a:endParaRPr lang="bg-BG" sz="2400" b="1" noProof="1">
              <a:latin typeface="Consolas" pitchFamily="49" charset="0"/>
              <a:cs typeface="Consolas" pitchFamily="49" charset="0"/>
            </a:endParaRPr>
          </a:p>
          <a:p>
            <a:r>
              <a:rPr lang="bg-BG" sz="2400" b="1" dirty="0">
                <a:latin typeface="Consolas" pitchFamily="49" charset="0"/>
                <a:cs typeface="Consolas" pitchFamily="49" charset="0"/>
              </a:rPr>
              <a:t>  </a:t>
            </a:r>
            <a:r>
              <a:rPr lang="nn-NO" sz="2400" b="1" dirty="0">
                <a:latin typeface="Consolas" pitchFamily="49" charset="0"/>
                <a:cs typeface="Consolas" pitchFamily="49" charset="0"/>
              </a:rPr>
              <a:t>i++;</a:t>
            </a:r>
            <a:endParaRPr lang="bg-BG" sz="2400" b="1" noProof="1">
              <a:latin typeface="Consolas" pitchFamily="49" charset="0"/>
              <a:cs typeface="Consolas" pitchFamily="49" charset="0"/>
            </a:endParaRPr>
          </a:p>
          <a:p>
            <a:r>
              <a:rPr lang="nn-NO" sz="2400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9" name="Right Arrow 11"/>
          <p:cNvSpPr/>
          <p:nvPr/>
        </p:nvSpPr>
        <p:spPr>
          <a:xfrm>
            <a:off x="7086568" y="4107428"/>
            <a:ext cx="561974" cy="42231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1ADCF0BF-03F0-4FA0-B563-435B6E444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9545" y="2932150"/>
            <a:ext cx="2239630" cy="2772875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</p:pic>
      <p:sp>
        <p:nvSpPr>
          <p:cNvPr id="11" name="Slide Number">
            <a:extLst>
              <a:ext uri="{FF2B5EF4-FFF2-40B4-BE49-F238E27FC236}">
                <a16:creationId xmlns:a16="http://schemas.microsoft.com/office/drawing/2014/main" id="{A62523CB-A37C-46F5-B43E-03B57E5ADA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42775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/>
          </a:bodyPr>
          <a:lstStyle/>
          <a:p>
            <a:pPr latinLnBrk="0"/>
            <a:r>
              <a:rPr lang="bg-BG" sz="3000" dirty="0"/>
              <a:t>Напишете програма, която: </a:t>
            </a:r>
          </a:p>
          <a:p>
            <a:pPr lvl="1" latinLnBrk="0"/>
            <a:r>
              <a:rPr lang="bg-BG" sz="2800" dirty="0"/>
              <a:t>Изчислява </a:t>
            </a:r>
            <a:r>
              <a:rPr lang="bg-BG" sz="2800" b="1" dirty="0"/>
              <a:t>средната оценка </a:t>
            </a:r>
            <a:r>
              <a:rPr lang="bg-BG" sz="2800" dirty="0"/>
              <a:t>на ученик от цялото му обучение</a:t>
            </a:r>
          </a:p>
          <a:p>
            <a:pPr lvl="1" latinLnBrk="0"/>
            <a:r>
              <a:rPr lang="bg-BG" sz="2800" dirty="0"/>
              <a:t>Ако годишната му оценка е</a:t>
            </a:r>
            <a:r>
              <a:rPr lang="en-US" sz="2800" dirty="0"/>
              <a:t>:</a:t>
            </a:r>
          </a:p>
          <a:p>
            <a:pPr lvl="2" latinLnBrk="0">
              <a:buClr>
                <a:schemeClr val="tx1"/>
              </a:buClr>
            </a:pPr>
            <a:r>
              <a:rPr lang="en-US" sz="2600" b="1" dirty="0">
                <a:latin typeface="Consolas" panose="020B0609020204030204" pitchFamily="49" charset="0"/>
              </a:rPr>
              <a:t>&gt;=</a:t>
            </a:r>
            <a:r>
              <a:rPr lang="en-US" sz="2600" dirty="0"/>
              <a:t> </a:t>
            </a:r>
            <a:r>
              <a:rPr lang="bg-BG" sz="2600" b="1" dirty="0">
                <a:latin typeface="Consolas" panose="020B0609020204030204" pitchFamily="49" charset="0"/>
              </a:rPr>
              <a:t>4.00</a:t>
            </a:r>
            <a:r>
              <a:rPr lang="bg-BG" sz="2600" dirty="0"/>
              <a:t>,</a:t>
            </a:r>
            <a:r>
              <a:rPr lang="en-US" sz="2600" dirty="0"/>
              <a:t> </a:t>
            </a:r>
            <a:r>
              <a:rPr lang="bg-BG" sz="2600" dirty="0"/>
              <a:t>ученикът преминава е следващия клас</a:t>
            </a:r>
          </a:p>
          <a:p>
            <a:pPr lvl="2" latinLnBrk="0">
              <a:buClr>
                <a:schemeClr val="tx1"/>
              </a:buClr>
            </a:pPr>
            <a:r>
              <a:rPr lang="en-US" sz="2600" b="1" dirty="0">
                <a:latin typeface="Consolas" panose="020B0609020204030204" pitchFamily="49" charset="0"/>
              </a:rPr>
              <a:t>&lt;</a:t>
            </a:r>
            <a:r>
              <a:rPr lang="bg-BG" sz="2600" b="1" dirty="0">
                <a:latin typeface="+mj-lt"/>
              </a:rPr>
              <a:t> </a:t>
            </a:r>
            <a:r>
              <a:rPr lang="bg-BG" sz="2600" b="1" dirty="0">
                <a:latin typeface="Consolas" panose="020B0609020204030204" pitchFamily="49" charset="0"/>
              </a:rPr>
              <a:t>4.00</a:t>
            </a:r>
            <a:r>
              <a:rPr lang="bg-BG" sz="2600" dirty="0"/>
              <a:t>, той ще повтори класа</a:t>
            </a:r>
          </a:p>
          <a:p>
            <a:pPr lvl="1" latinLnBrk="0"/>
            <a:r>
              <a:rPr lang="bg-BG" sz="2800" dirty="0"/>
              <a:t>Ако бъде скъсан повече от един път, той бива изключен и програмата приключва. Отпечатва се името и в кой клас е изключен:</a:t>
            </a:r>
          </a:p>
          <a:p>
            <a:pPr marL="442912" lvl="1" indent="0">
              <a:buNone/>
            </a:pPr>
            <a:r>
              <a:rPr lang="bg-BG" sz="2400" dirty="0"/>
              <a:t>"{име на ученика} </a:t>
            </a:r>
            <a:r>
              <a:rPr lang="en-US" sz="2400" b="1" dirty="0"/>
              <a:t>has been excluded at </a:t>
            </a:r>
            <a:r>
              <a:rPr lang="en-US" sz="2400" dirty="0"/>
              <a:t>{</a:t>
            </a:r>
            <a:r>
              <a:rPr lang="bg-BG" sz="2400" dirty="0"/>
              <a:t>класа, в който е бил изключен} </a:t>
            </a:r>
            <a:r>
              <a:rPr lang="en-US" sz="2400" b="1" dirty="0"/>
              <a:t>grade</a:t>
            </a:r>
            <a:r>
              <a:rPr lang="en-US" sz="2400" dirty="0"/>
              <a:t>"</a:t>
            </a:r>
          </a:p>
          <a:p>
            <a:pPr lvl="1" latinLnBrk="0"/>
            <a:r>
              <a:rPr lang="bg-BG" sz="2800" dirty="0"/>
              <a:t>При </a:t>
            </a:r>
            <a:r>
              <a:rPr lang="bg-BG" sz="2800" b="1" dirty="0"/>
              <a:t>завършване</a:t>
            </a:r>
            <a:r>
              <a:rPr lang="bg-BG" sz="2800" dirty="0"/>
              <a:t> да се отпечата</a:t>
            </a:r>
            <a:r>
              <a:rPr lang="bg-BG" sz="2400" dirty="0"/>
              <a:t>:</a:t>
            </a:r>
          </a:p>
          <a:p>
            <a:pPr marL="377887" lvl="1" indent="0">
              <a:buNone/>
            </a:pPr>
            <a:r>
              <a:rPr lang="bg-BG" sz="2400" dirty="0"/>
              <a:t>"</a:t>
            </a:r>
            <a:r>
              <a:rPr lang="en-US" sz="2400" dirty="0"/>
              <a:t>{</a:t>
            </a:r>
            <a:r>
              <a:rPr lang="bg-BG" sz="2400" dirty="0"/>
              <a:t>име на ученика</a:t>
            </a:r>
            <a:r>
              <a:rPr lang="en-US" sz="2400" dirty="0"/>
              <a:t>} </a:t>
            </a:r>
            <a:r>
              <a:rPr lang="en-US" sz="2400" b="1" dirty="0">
                <a:latin typeface="Consolas" pitchFamily="49" charset="0"/>
                <a:cs typeface="Consolas" pitchFamily="49" charset="0"/>
              </a:rPr>
              <a:t>graduated.</a:t>
            </a:r>
            <a:r>
              <a:rPr lang="en-US" sz="2400" b="1" dirty="0">
                <a:latin typeface="+mj-lt"/>
                <a:cs typeface="Consolas" pitchFamily="49" charset="0"/>
              </a:rPr>
              <a:t> </a:t>
            </a:r>
            <a:r>
              <a:rPr lang="en-US" sz="2400" b="1" dirty="0">
                <a:latin typeface="Consolas" pitchFamily="49" charset="0"/>
                <a:cs typeface="Consolas" pitchFamily="49" charset="0"/>
              </a:rPr>
              <a:t>Average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dirty="0">
                <a:latin typeface="Consolas" pitchFamily="49" charset="0"/>
                <a:cs typeface="Consolas" pitchFamily="49" charset="0"/>
              </a:rPr>
              <a:t>grade</a:t>
            </a:r>
            <a:r>
              <a:rPr lang="en-US" sz="2400" b="1" dirty="0"/>
              <a:t>: </a:t>
            </a:r>
            <a:r>
              <a:rPr lang="en-US" sz="2400" dirty="0"/>
              <a:t>{</a:t>
            </a:r>
            <a:r>
              <a:rPr lang="bg-BG" sz="2400" dirty="0"/>
              <a:t>средната оценка от цялото обучение</a:t>
            </a:r>
            <a:r>
              <a:rPr lang="en-US" sz="2400" dirty="0"/>
              <a:t>}</a:t>
            </a:r>
            <a:r>
              <a:rPr lang="bg-BG" sz="2400" dirty="0"/>
              <a:t>"</a:t>
            </a:r>
          </a:p>
          <a:p>
            <a:pPr lvl="1" latinLnBrk="0"/>
            <a:endParaRPr lang="en-US" sz="24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Завършване – условие 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645BDED3-582B-4D9D-AD87-616A07B0C7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77781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Завършване – условие (2)</a:t>
            </a:r>
            <a:endParaRPr lang="en-US" dirty="0"/>
          </a:p>
        </p:txBody>
      </p:sp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458788" y="1524000"/>
            <a:ext cx="1143000" cy="4800600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>
            <a:noAutofit/>
          </a:bodyPr>
          <a:lstStyle/>
          <a:p>
            <a:r>
              <a:rPr lang="en-US" sz="2400" b="1" dirty="0"/>
              <a:t>Gosho</a:t>
            </a:r>
          </a:p>
          <a:p>
            <a:r>
              <a:rPr lang="en-US" sz="2400" b="1" dirty="0"/>
              <a:t>5</a:t>
            </a:r>
          </a:p>
          <a:p>
            <a:r>
              <a:rPr lang="en-US" sz="2400" b="1" dirty="0"/>
              <a:t>5.5</a:t>
            </a:r>
          </a:p>
          <a:p>
            <a:r>
              <a:rPr lang="en-US" sz="2400" b="1" dirty="0"/>
              <a:t>6</a:t>
            </a:r>
          </a:p>
          <a:p>
            <a:r>
              <a:rPr lang="en-US" sz="2400" b="1" dirty="0"/>
              <a:t>5.43</a:t>
            </a:r>
          </a:p>
          <a:p>
            <a:r>
              <a:rPr lang="en-US" sz="2400" b="1" dirty="0"/>
              <a:t>5.5</a:t>
            </a:r>
          </a:p>
          <a:p>
            <a:r>
              <a:rPr lang="en-US" sz="2400" b="1" dirty="0"/>
              <a:t>6</a:t>
            </a:r>
          </a:p>
          <a:p>
            <a:r>
              <a:rPr lang="en-US" sz="2400" b="1" dirty="0"/>
              <a:t>5.55</a:t>
            </a:r>
          </a:p>
          <a:p>
            <a:r>
              <a:rPr lang="en-US" sz="2400" b="1" dirty="0"/>
              <a:t>5</a:t>
            </a:r>
          </a:p>
          <a:p>
            <a:r>
              <a:rPr lang="en-US" sz="2400" b="1" dirty="0"/>
              <a:t>6</a:t>
            </a:r>
          </a:p>
          <a:p>
            <a:r>
              <a:rPr lang="en-US" sz="2400" b="1" dirty="0"/>
              <a:t>6</a:t>
            </a:r>
          </a:p>
          <a:p>
            <a:r>
              <a:rPr lang="en-US" sz="2400" b="1" dirty="0"/>
              <a:t>5.43</a:t>
            </a:r>
          </a:p>
          <a:p>
            <a:r>
              <a:rPr lang="en-US" sz="2400" b="1" dirty="0"/>
              <a:t>5</a:t>
            </a:r>
            <a:endParaRPr lang="bg-BG" sz="2400" b="1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Right Arrow 11"/>
          <p:cNvSpPr/>
          <p:nvPr/>
        </p:nvSpPr>
        <p:spPr>
          <a:xfrm>
            <a:off x="1736633" y="3771898"/>
            <a:ext cx="4572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2362200" y="3427122"/>
            <a:ext cx="3581400" cy="994357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>
            <a:noAutofit/>
          </a:bodyPr>
          <a:lstStyle/>
          <a:p>
            <a:pPr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itchFamily="49" charset="0"/>
                <a:cs typeface="Consolas" pitchFamily="49" charset="0"/>
              </a:rPr>
              <a:t>Gosho graduated. Average grade: 5.53</a:t>
            </a:r>
            <a:endParaRPr lang="bg-BG" sz="2400" b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6249990" y="1981930"/>
            <a:ext cx="1143000" cy="3884735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>
            <a:noAutofit/>
          </a:bodyPr>
          <a:lstStyle/>
          <a:p>
            <a:pPr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l-PL" sz="2400" b="1" dirty="0">
                <a:latin typeface="Consolas" pitchFamily="49" charset="0"/>
                <a:cs typeface="Consolas" pitchFamily="49" charset="0"/>
              </a:rPr>
              <a:t>Mimi</a:t>
            </a:r>
          </a:p>
          <a:p>
            <a:pPr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l-PL" sz="2400" b="1" dirty="0">
                <a:latin typeface="Consolas" pitchFamily="49" charset="0"/>
                <a:cs typeface="Consolas" pitchFamily="49" charset="0"/>
              </a:rPr>
              <a:t>5</a:t>
            </a:r>
          </a:p>
          <a:p>
            <a:pPr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l-PL" sz="2400" b="1" dirty="0">
                <a:latin typeface="Consolas" pitchFamily="49" charset="0"/>
                <a:cs typeface="Consolas" pitchFamily="49" charset="0"/>
              </a:rPr>
              <a:t>6</a:t>
            </a:r>
          </a:p>
          <a:p>
            <a:pPr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l-PL" sz="2400" b="1" dirty="0">
                <a:latin typeface="Consolas" pitchFamily="49" charset="0"/>
                <a:cs typeface="Consolas" pitchFamily="49" charset="0"/>
              </a:rPr>
              <a:t>5</a:t>
            </a:r>
          </a:p>
          <a:p>
            <a:pPr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l-PL" sz="2400" b="1" dirty="0">
                <a:latin typeface="Consolas" pitchFamily="49" charset="0"/>
                <a:cs typeface="Consolas" pitchFamily="49" charset="0"/>
              </a:rPr>
              <a:t>6</a:t>
            </a:r>
          </a:p>
          <a:p>
            <a:pPr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l-PL" sz="2400" b="1" dirty="0">
                <a:latin typeface="Consolas" pitchFamily="49" charset="0"/>
                <a:cs typeface="Consolas" pitchFamily="49" charset="0"/>
              </a:rPr>
              <a:t>5</a:t>
            </a:r>
          </a:p>
          <a:p>
            <a:pPr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l-PL" sz="2400" b="1" dirty="0">
                <a:latin typeface="Consolas" pitchFamily="49" charset="0"/>
                <a:cs typeface="Consolas" pitchFamily="49" charset="0"/>
              </a:rPr>
              <a:t>6</a:t>
            </a:r>
          </a:p>
          <a:p>
            <a:pPr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l-PL" sz="2400" b="1" dirty="0">
                <a:latin typeface="Consolas" pitchFamily="49" charset="0"/>
                <a:cs typeface="Consolas" pitchFamily="49" charset="0"/>
              </a:rPr>
              <a:t>6</a:t>
            </a:r>
          </a:p>
          <a:p>
            <a:pPr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l-PL" sz="2400" b="1" dirty="0">
                <a:latin typeface="Consolas" pitchFamily="49" charset="0"/>
                <a:cs typeface="Consolas" pitchFamily="49" charset="0"/>
              </a:rPr>
              <a:t>2</a:t>
            </a:r>
          </a:p>
          <a:p>
            <a:pPr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l-PL" sz="2400" b="1" dirty="0">
                <a:latin typeface="Consolas" pitchFamily="49" charset="0"/>
                <a:cs typeface="Consolas" pitchFamily="49" charset="0"/>
              </a:rPr>
              <a:t>3</a:t>
            </a:r>
          </a:p>
        </p:txBody>
      </p:sp>
      <p:sp>
        <p:nvSpPr>
          <p:cNvPr id="9" name="Right Arrow 11"/>
          <p:cNvSpPr/>
          <p:nvPr/>
        </p:nvSpPr>
        <p:spPr>
          <a:xfrm>
            <a:off x="7576126" y="3772165"/>
            <a:ext cx="4572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8231188" y="3431413"/>
            <a:ext cx="3581400" cy="994357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>
            <a:noAutofit/>
          </a:bodyPr>
          <a:lstStyle/>
          <a:p>
            <a:pPr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itchFamily="49" charset="0"/>
                <a:cs typeface="Consolas" pitchFamily="49" charset="0"/>
              </a:rPr>
              <a:t>Mimi has been excluded at 8 grade</a:t>
            </a:r>
            <a:endParaRPr lang="bg-BG" sz="2400" b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BBCFC38A-12F1-408D-BF80-6B5E80A3B9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91252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Завършване – решение </a:t>
            </a:r>
            <a:endParaRPr lang="en-US" dirty="0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025507" y="1158514"/>
            <a:ext cx="10245493" cy="5285486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latin typeface="Consolas" pitchFamily="49" charset="0"/>
                <a:cs typeface="Consolas" pitchFamily="49" charset="0"/>
              </a:rPr>
              <a:t>string name = Console.ReadLine();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latin typeface="Consolas" pitchFamily="49" charset="0"/>
                <a:cs typeface="Consolas" pitchFamily="49" charset="0"/>
              </a:rPr>
              <a:t>int grades = 1;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latin typeface="Consolas" pitchFamily="49" charset="0"/>
                <a:cs typeface="Consolas" pitchFamily="49" charset="0"/>
              </a:rPr>
              <a:t>double sum = 0;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latin typeface="Consolas" pitchFamily="49" charset="0"/>
                <a:cs typeface="Consolas" pitchFamily="49" charset="0"/>
              </a:rPr>
              <a:t>int excluded = 0;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while</a:t>
            </a:r>
            <a:r>
              <a:rPr lang="en-US" sz="2200" b="1" noProof="1">
                <a:latin typeface="Consolas" pitchFamily="49" charset="0"/>
                <a:cs typeface="Consolas" pitchFamily="49" charset="0"/>
              </a:rPr>
              <a:t> (grades &lt;= 12)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latin typeface="Consolas" pitchFamily="49" charset="0"/>
                <a:cs typeface="Consolas" pitchFamily="49" charset="0"/>
              </a:rPr>
              <a:t>  double grade = double.Parse(Console.ReadLine());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latin typeface="Consolas" pitchFamily="49" charset="0"/>
                <a:cs typeface="Consolas" pitchFamily="49" charset="0"/>
              </a:rPr>
              <a:t>  if (grade &lt; 4.00) {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latin typeface="Consolas" pitchFamily="49" charset="0"/>
                <a:cs typeface="Consolas" pitchFamily="49" charset="0"/>
              </a:rPr>
              <a:t>     </a:t>
            </a:r>
            <a:r>
              <a:rPr lang="en-US" sz="2200" b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// TODO: increase excluded count and break if is more than 1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     </a:t>
            </a: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continue;</a:t>
            </a:r>
            <a:r>
              <a:rPr lang="en-US" sz="2200" b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 </a:t>
            </a:r>
            <a:endParaRPr lang="en-US" sz="22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latin typeface="Consolas" pitchFamily="49" charset="0"/>
                <a:cs typeface="Consolas" pitchFamily="49" charset="0"/>
              </a:rPr>
              <a:t>  }</a:t>
            </a:r>
            <a:endParaRPr lang="bg-BG" sz="22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  // TODO: add grade to sum and increase grades count</a:t>
            </a:r>
            <a:endParaRPr lang="en-US" sz="22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latin typeface="Consolas" pitchFamily="49" charset="0"/>
                <a:cs typeface="Consolas" pitchFamily="49" charset="0"/>
              </a:rPr>
              <a:t>double average = sum / 12; </a:t>
            </a:r>
            <a:r>
              <a:rPr lang="en-US" sz="2200" b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//TODO: print the output options</a:t>
            </a:r>
            <a:endParaRPr lang="bg-BG" sz="2200" b="1" noProof="1">
              <a:solidFill>
                <a:schemeClr val="accent2"/>
              </a:solidFill>
              <a:latin typeface="Consolas" pitchFamily="49" charset="0"/>
              <a:cs typeface="Consolas" pitchFamily="49" charset="0"/>
            </a:endParaRPr>
          </a:p>
        </p:txBody>
      </p:sp>
      <p:pic>
        <p:nvPicPr>
          <p:cNvPr id="10" name="Picture 2" descr="C:\Users\HP\Desktop\Graduation-Transparent-Background-PNG.pn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077200" y="956261"/>
            <a:ext cx="2503968" cy="2302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Number">
            <a:extLst>
              <a:ext uri="{FF2B5EF4-FFF2-40B4-BE49-F238E27FC236}">
                <a16:creationId xmlns:a16="http://schemas.microsoft.com/office/drawing/2014/main" id="{ECEEE4E3-935C-4CEB-B3F7-B182845EF110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792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…</a:t>
            </a:r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Какво научихме днес?</a:t>
            </a:r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343834" y="1251279"/>
            <a:ext cx="8632995" cy="5300339"/>
            <a:chOff x="472011" y="1508786"/>
            <a:chExt cx="3799787" cy="4865561"/>
          </a:xfrm>
        </p:grpSpPr>
        <p:sp>
          <p:nvSpPr>
            <p:cNvPr id="10" name="Rounded Rectangle 10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 userDrawn="1"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 dirty="0"/>
            </a:p>
          </p:txBody>
        </p:sp>
        <p:sp>
          <p:nvSpPr>
            <p:cNvPr id="11" name="Rounded Rectangle 16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 userDrawn="1"/>
          </p:nvSpPr>
          <p:spPr>
            <a:xfrm>
              <a:off x="540767" y="1781251"/>
              <a:ext cx="85794" cy="4320631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bg1"/>
                </a:solidFill>
              </a:endParaRPr>
            </a:p>
          </p:txBody>
        </p:sp>
        <p:sp>
          <p:nvSpPr>
            <p:cNvPr id="12" name="Half Frame 11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 userDrawn="1"/>
          </p:nvSpPr>
          <p:spPr>
            <a:xfrm rot="5400000">
              <a:off x="376256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tx1"/>
                </a:solidFill>
              </a:endParaRP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CCC3A316-993C-4741-8826-E104F27650A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8928324" y="3276641"/>
            <a:ext cx="2882677" cy="3119781"/>
          </a:xfrm>
          <a:prstGeom prst="rect">
            <a:avLst/>
          </a:prstGeom>
        </p:spPr>
      </p:pic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373AC257-A0F4-4265-8C0F-3CB5C237A93D}"/>
              </a:ext>
            </a:extLst>
          </p:cNvPr>
          <p:cNvSpPr txBox="1">
            <a:spLocks/>
          </p:cNvSpPr>
          <p:nvPr/>
        </p:nvSpPr>
        <p:spPr>
          <a:xfrm>
            <a:off x="709427" y="1983340"/>
            <a:ext cx="8036199" cy="4118139"/>
          </a:xfrm>
          <a:prstGeom prst="rect">
            <a:avLst/>
          </a:prstGeom>
        </p:spPr>
        <p:txBody>
          <a:bodyPr vert="horz" lIns="108000" tIns="36000" rIns="108000" bIns="36000" rtlCol="0">
            <a:normAutofit lnSpcReduction="10000"/>
          </a:bodyPr>
          <a:lstStyle>
            <a:lvl1pPr marL="456915" indent="-456915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ct val="130000"/>
              </a:lnSpc>
              <a:buClr>
                <a:schemeClr val="bg2"/>
              </a:buClr>
            </a:pPr>
            <a:r>
              <a:rPr lang="bg-BG" sz="3200" dirty="0">
                <a:solidFill>
                  <a:schemeClr val="bg2"/>
                </a:solidFill>
              </a:rPr>
              <a:t>Можем да повтаряме блок от код с </a:t>
            </a:r>
            <a:br>
              <a:rPr lang="en-US" sz="3200" dirty="0">
                <a:solidFill>
                  <a:schemeClr val="bg2"/>
                </a:solidFill>
              </a:rPr>
            </a:b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while</a:t>
            </a:r>
            <a:r>
              <a:rPr lang="en-US" sz="3200" b="1" dirty="0">
                <a:solidFill>
                  <a:schemeClr val="bg2"/>
                </a:solidFill>
              </a:rPr>
              <a:t>-</a:t>
            </a:r>
            <a:r>
              <a:rPr lang="bg-BG" sz="3200" dirty="0">
                <a:solidFill>
                  <a:schemeClr val="bg2"/>
                </a:solidFill>
              </a:rPr>
              <a:t>цикъл</a:t>
            </a:r>
            <a:endParaRPr lang="en-US" sz="3200" dirty="0">
              <a:solidFill>
                <a:schemeClr val="bg2"/>
              </a:solidFill>
            </a:endParaRPr>
          </a:p>
          <a:p>
            <a:pPr latinLnBrk="0">
              <a:lnSpc>
                <a:spcPct val="130000"/>
              </a:lnSpc>
              <a:buClr>
                <a:schemeClr val="bg2"/>
              </a:buClr>
            </a:pPr>
            <a:r>
              <a:rPr lang="bg-BG" sz="3200" dirty="0">
                <a:solidFill>
                  <a:schemeClr val="bg2"/>
                </a:solidFill>
              </a:rPr>
              <a:t>Можем да прекъсваме цикли с оператора 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break</a:t>
            </a:r>
            <a:endParaRPr lang="bg-BG" sz="3200" b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latinLnBrk="0">
              <a:lnSpc>
                <a:spcPct val="130000"/>
              </a:lnSpc>
              <a:buClr>
                <a:schemeClr val="bg2"/>
              </a:buClr>
            </a:pPr>
            <a:r>
              <a:rPr lang="bg-BG" sz="3200" dirty="0">
                <a:solidFill>
                  <a:schemeClr val="bg2"/>
                </a:solidFill>
              </a:rPr>
              <a:t>Можем да преминем към следваща итерация с оператора 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continue</a:t>
            </a:r>
            <a:endParaRPr lang="bg-BG" sz="3200" b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 latinLnBrk="0">
              <a:lnSpc>
                <a:spcPct val="100000"/>
              </a:lnSpc>
              <a:buNone/>
            </a:pPr>
            <a:endParaRPr lang="bg-BG" sz="3200" dirty="0">
              <a:solidFill>
                <a:schemeClr val="bg2"/>
              </a:solidFill>
            </a:endParaRPr>
          </a:p>
          <a:p>
            <a:pPr marL="456565" indent="-456565" latinLnBrk="0">
              <a:lnSpc>
                <a:spcPct val="100000"/>
              </a:lnSpc>
            </a:pPr>
            <a:endParaRPr lang="bg-BG" sz="3200" dirty="0">
              <a:solidFill>
                <a:schemeClr val="bg2"/>
              </a:solidFill>
            </a:endParaRP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5C22A3C2-BE6F-4370-A1FD-4DDEDFD1A0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82726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1A67F800-7980-E3CA-7188-3C478C8E98B8}"/>
              </a:ext>
            </a:extLst>
          </p:cNvPr>
          <p:cNvGrpSpPr/>
          <p:nvPr/>
        </p:nvGrpSpPr>
        <p:grpSpPr>
          <a:xfrm>
            <a:off x="3737560" y="1622524"/>
            <a:ext cx="7787441" cy="3498930"/>
            <a:chOff x="3749351" y="1549902"/>
            <a:chExt cx="7787441" cy="3498930"/>
          </a:xfrm>
        </p:grpSpPr>
        <p:pic>
          <p:nvPicPr>
            <p:cNvPr id="7" name="Picture 6" descr="A picture containing text, sign, vector graphics&#10;&#10;Description automatically generated">
              <a:extLst>
                <a:ext uri="{FF2B5EF4-FFF2-40B4-BE49-F238E27FC236}">
                  <a16:creationId xmlns:a16="http://schemas.microsoft.com/office/drawing/2014/main" id="{15CE28B1-02BA-4014-E149-BF1EE09447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33020" y="1549902"/>
              <a:ext cx="1343039" cy="1343039"/>
            </a:xfrm>
            <a:prstGeom prst="rect">
              <a:avLst/>
            </a:prstGeom>
          </p:spPr>
        </p:pic>
        <p:pic>
          <p:nvPicPr>
            <p:cNvPr id="9" name="Picture 8" descr="Logo&#10;&#10;Description automatically generated">
              <a:extLst>
                <a:ext uri="{FF2B5EF4-FFF2-40B4-BE49-F238E27FC236}">
                  <a16:creationId xmlns:a16="http://schemas.microsoft.com/office/drawing/2014/main" id="{5F82FF4F-4AD2-4B3B-1445-F3C6BA2685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94661" y="3848395"/>
              <a:ext cx="1147961" cy="1147961"/>
            </a:xfrm>
            <a:prstGeom prst="rect">
              <a:avLst/>
            </a:prstGeom>
          </p:spPr>
        </p:pic>
        <p:pic>
          <p:nvPicPr>
            <p:cNvPr id="11" name="Picture 10" descr="Logo&#10;&#10;Description automatically generated">
              <a:extLst>
                <a:ext uri="{FF2B5EF4-FFF2-40B4-BE49-F238E27FC236}">
                  <a16:creationId xmlns:a16="http://schemas.microsoft.com/office/drawing/2014/main" id="{68CCA8DB-9EFC-F9BC-57AE-81E4F843E8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59277" y="3871255"/>
              <a:ext cx="1147961" cy="1147961"/>
            </a:xfrm>
            <a:prstGeom prst="rect">
              <a:avLst/>
            </a:prstGeom>
          </p:spPr>
        </p:pic>
        <p:pic>
          <p:nvPicPr>
            <p:cNvPr id="13" name="Picture 12" descr="Logo&#10;&#10;Description automatically generated">
              <a:extLst>
                <a:ext uri="{FF2B5EF4-FFF2-40B4-BE49-F238E27FC236}">
                  <a16:creationId xmlns:a16="http://schemas.microsoft.com/office/drawing/2014/main" id="{3FDF9297-50FA-E866-B6CE-9D64B1E892B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000306" y="3874225"/>
              <a:ext cx="1147961" cy="1147961"/>
            </a:xfrm>
            <a:prstGeom prst="rect">
              <a:avLst/>
            </a:prstGeom>
          </p:spPr>
        </p:pic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2A1BC0C9-7A7B-9C5B-B457-3E86E59EF29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738229" y="3900407"/>
              <a:ext cx="888756" cy="1043936"/>
            </a:xfrm>
            <a:prstGeom prst="rect">
              <a:avLst/>
            </a:prstGeom>
          </p:spPr>
        </p:pic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DBE174DA-A182-7E57-06D4-86AFA26D484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749351" y="3928121"/>
              <a:ext cx="837913" cy="1040168"/>
            </a:xfrm>
            <a:prstGeom prst="rect">
              <a:avLst/>
            </a:prstGeom>
          </p:spPr>
        </p:pic>
        <p:pic>
          <p:nvPicPr>
            <p:cNvPr id="22" name="Picture 21" descr="Logo&#10;&#10;Description automatically generated">
              <a:extLst>
                <a:ext uri="{FF2B5EF4-FFF2-40B4-BE49-F238E27FC236}">
                  <a16:creationId xmlns:a16="http://schemas.microsoft.com/office/drawing/2014/main" id="{9B7FFC36-A4BC-7A53-AB82-82C398A4753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0279380" y="3876626"/>
              <a:ext cx="1257412" cy="1172206"/>
            </a:xfrm>
            <a:prstGeom prst="rect">
              <a:avLst/>
            </a:prstGeom>
          </p:spPr>
        </p:pic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3FB2AEAC-BDEE-9D5F-67A3-17CEDA699052}"/>
                </a:ext>
              </a:extLst>
            </p:cNvPr>
            <p:cNvGrpSpPr/>
            <p:nvPr/>
          </p:nvGrpSpPr>
          <p:grpSpPr>
            <a:xfrm>
              <a:off x="4091553" y="3060524"/>
              <a:ext cx="6825992" cy="559921"/>
              <a:chOff x="1433768" y="2645180"/>
              <a:chExt cx="9324489" cy="783820"/>
            </a:xfrm>
          </p:grpSpPr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AA38ABD5-1637-DC80-A922-DF10E4F75CD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96000" y="2645180"/>
                <a:ext cx="1" cy="469190"/>
              </a:xfrm>
              <a:prstGeom prst="line">
                <a:avLst/>
              </a:prstGeom>
              <a:ln w="41275">
                <a:solidFill>
                  <a:srgbClr val="FFA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617B586A-0BC5-5E32-7E67-FD277547ED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433768" y="3114370"/>
                <a:ext cx="9324489" cy="314630"/>
              </a:xfrm>
              <a:prstGeom prst="rect">
                <a:avLst/>
              </a:prstGeom>
            </p:spPr>
          </p:pic>
        </p:grpSp>
      </p:grpSp>
      <p:pic>
        <p:nvPicPr>
          <p:cNvPr id="40" name="Picture 39" descr="Logo&#10;&#10;Description automatically generated">
            <a:extLst>
              <a:ext uri="{FF2B5EF4-FFF2-40B4-BE49-F238E27FC236}">
                <a16:creationId xmlns:a16="http://schemas.microsoft.com/office/drawing/2014/main" id="{9C30DD70-D438-6D27-35D3-8BB874966D8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384" y="2319421"/>
            <a:ext cx="3660176" cy="4247149"/>
          </a:xfrm>
          <a:prstGeom prst="rect">
            <a:avLst/>
          </a:prstGeom>
        </p:spPr>
      </p:pic>
      <p:sp>
        <p:nvSpPr>
          <p:cNvPr id="2" name="Google Shape;441;p37">
            <a:extLst>
              <a:ext uri="{FF2B5EF4-FFF2-40B4-BE49-F238E27FC236}">
                <a16:creationId xmlns:a16="http://schemas.microsoft.com/office/drawing/2014/main" id="{2AFB472C-93C2-241B-75FA-457782840F92}"/>
              </a:ext>
            </a:extLst>
          </p:cNvPr>
          <p:cNvSpPr txBox="1">
            <a:spLocks/>
          </p:cNvSpPr>
          <p:nvPr/>
        </p:nvSpPr>
        <p:spPr>
          <a:xfrm>
            <a:off x="809628" y="703244"/>
            <a:ext cx="5916372" cy="1033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98"/>
              <a:buFont typeface="Calibri"/>
              <a:buNone/>
              <a:defRPr sz="6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Clr>
                <a:srgbClr val="234465"/>
              </a:buClr>
              <a:buSzPts val="8800"/>
            </a:pPr>
            <a:r>
              <a:rPr lang="bg-BG" sz="8800" dirty="0">
                <a:solidFill>
                  <a:srgbClr val="234465"/>
                </a:solidFill>
              </a:rPr>
              <a:t>Въпроси</a:t>
            </a:r>
            <a:r>
              <a:rPr lang="en-US" sz="8800" dirty="0">
                <a:solidFill>
                  <a:srgbClr val="234465"/>
                </a:solidFill>
              </a:rPr>
              <a:t>?</a:t>
            </a:r>
            <a:endParaRPr lang="en-US" sz="8800" dirty="0"/>
          </a:p>
        </p:txBody>
      </p:sp>
      <p:pic>
        <p:nvPicPr>
          <p:cNvPr id="14" name="Картина 13">
            <a:extLst>
              <a:ext uri="{FF2B5EF4-FFF2-40B4-BE49-F238E27FC236}">
                <a16:creationId xmlns:a16="http://schemas.microsoft.com/office/drawing/2014/main" id="{54B365E9-8FD0-6D5B-2DFC-723EE5DDD55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91341" y="202022"/>
            <a:ext cx="2028825" cy="790575"/>
          </a:xfrm>
          <a:prstGeom prst="rect">
            <a:avLst/>
          </a:prstGeom>
        </p:spPr>
      </p:pic>
      <p:pic>
        <p:nvPicPr>
          <p:cNvPr id="16" name="Картина 15">
            <a:extLst>
              <a:ext uri="{FF2B5EF4-FFF2-40B4-BE49-F238E27FC236}">
                <a16:creationId xmlns:a16="http://schemas.microsoft.com/office/drawing/2014/main" id="{3BD6ABFC-02BF-2D42-B42B-6929222F37B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6388471"/>
            <a:ext cx="12192000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0606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11818096" cy="545589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bg-BG" dirty="0"/>
              <a:t>Този курс</a:t>
            </a:r>
            <a:r>
              <a:rPr lang="en-US" dirty="0"/>
              <a:t> (</a:t>
            </a:r>
            <a:r>
              <a:rPr lang="bg-BG" dirty="0"/>
              <a:t>презентации, примери, демонстрационен код, упражнения, домашни, видео и други активи</a:t>
            </a:r>
            <a:r>
              <a:rPr lang="en-US" dirty="0"/>
              <a:t>) </a:t>
            </a:r>
            <a:r>
              <a:rPr lang="bg-BG" dirty="0"/>
              <a:t>представлява</a:t>
            </a:r>
            <a:r>
              <a:rPr lang="en-US" dirty="0"/>
              <a:t> </a:t>
            </a:r>
            <a:r>
              <a:rPr lang="bg-BG" b="1" dirty="0"/>
              <a:t>защитено авторско съдържание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bg-BG" dirty="0"/>
              <a:t>Нерегламентирано копиране</a:t>
            </a:r>
            <a:r>
              <a:rPr lang="en-US" dirty="0"/>
              <a:t>,</a:t>
            </a:r>
            <a:r>
              <a:rPr lang="bg-BG" dirty="0"/>
              <a:t> разпространение или използване е незаконно</a:t>
            </a:r>
          </a:p>
          <a:p>
            <a:pPr>
              <a:lnSpc>
                <a:spcPct val="120000"/>
              </a:lnSpc>
            </a:pPr>
            <a:r>
              <a:rPr lang="en-US" dirty="0"/>
              <a:t>© </a:t>
            </a:r>
            <a:r>
              <a:rPr lang="bg-BG" dirty="0"/>
              <a:t>СофтУни</a:t>
            </a:r>
            <a:r>
              <a:rPr lang="en-US" dirty="0"/>
              <a:t> – </a:t>
            </a:r>
            <a:r>
              <a:rPr lang="en-US" dirty="0">
                <a:hlinkClick r:id="rId3"/>
              </a:rPr>
              <a:t>https://softuni.org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© </a:t>
            </a:r>
            <a:r>
              <a:rPr lang="bg-BG" dirty="0"/>
              <a:t>Софтуерен университет</a:t>
            </a:r>
            <a:r>
              <a:rPr lang="en-US" dirty="0"/>
              <a:t> – </a:t>
            </a:r>
            <a:r>
              <a:rPr lang="en-US" dirty="0">
                <a:hlinkClick r:id="rId4"/>
              </a:rPr>
              <a:t>https://softuni.bg</a:t>
            </a:r>
            <a:endParaRPr lang="bg-BG" dirty="0"/>
          </a:p>
          <a:p>
            <a:pPr>
              <a:lnSpc>
                <a:spcPct val="120000"/>
              </a:lnSpc>
            </a:pPr>
            <a:endParaRPr lang="bg-BG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82BA520F-A037-4E01-AA18-27D9F1E930A6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745023" y="4445455"/>
            <a:ext cx="1930977" cy="2043545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Лиценз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4BB7C117-0ECD-4E5B-A7DC-2817075326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04951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Body"/>
          <p:cNvSpPr>
            <a:spLocks noGrp="1"/>
          </p:cNvSpPr>
          <p:nvPr>
            <p:ph idx="4294967295"/>
          </p:nvPr>
        </p:nvSpPr>
        <p:spPr>
          <a:xfrm>
            <a:off x="190404" y="1179000"/>
            <a:ext cx="9865596" cy="54900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sz="3200" dirty="0"/>
              <a:t>Софтуерен университет </a:t>
            </a:r>
            <a:r>
              <a:rPr lang="en-US" sz="3200" dirty="0"/>
              <a:t>– </a:t>
            </a:r>
            <a:r>
              <a:rPr lang="bg-BG" sz="3200" dirty="0"/>
              <a:t>качествено образование, професия и работа за софтуерни инженери</a:t>
            </a:r>
            <a:endParaRPr lang="en-US" sz="3200" dirty="0"/>
          </a:p>
          <a:p>
            <a:pPr lvl="1"/>
            <a:r>
              <a:rPr lang="en-US" sz="3000" noProof="1">
                <a:hlinkClick r:id="rId3"/>
              </a:rPr>
              <a:t>softuni.bg</a:t>
            </a:r>
            <a:endParaRPr lang="en-US" sz="3000" noProof="1"/>
          </a:p>
          <a:p>
            <a:pPr>
              <a:lnSpc>
                <a:spcPct val="100000"/>
              </a:lnSpc>
            </a:pPr>
            <a:r>
              <a:rPr lang="bg-BG" sz="3200" dirty="0"/>
              <a:t>Фондация "Софтуерен университет"</a:t>
            </a:r>
          </a:p>
          <a:p>
            <a:pPr lvl="1"/>
            <a:r>
              <a:rPr lang="en-US" sz="3000" noProof="1">
                <a:hlinkClick r:id="rId4"/>
              </a:rPr>
              <a:t>softuni.foundation</a:t>
            </a:r>
            <a:endParaRPr lang="en-US" sz="3000" noProof="1"/>
          </a:p>
          <a:p>
            <a:pPr>
              <a:lnSpc>
                <a:spcPct val="100000"/>
              </a:lnSpc>
            </a:pPr>
            <a:r>
              <a:rPr lang="bg-BG" sz="3200" dirty="0"/>
              <a:t>Софтуерен университет</a:t>
            </a:r>
            <a:r>
              <a:rPr lang="en-US" sz="3200" dirty="0"/>
              <a:t> @ Facebook</a:t>
            </a:r>
          </a:p>
          <a:p>
            <a:pPr lvl="1"/>
            <a:r>
              <a:rPr lang="en-US" sz="3000" noProof="1">
                <a:hlinkClick r:id="rId5"/>
              </a:rPr>
              <a:t>facebook.com/SoftwareUniversity</a:t>
            </a:r>
            <a:endParaRPr lang="en-US" sz="3000" noProof="1"/>
          </a:p>
        </p:txBody>
      </p:sp>
      <p:sp>
        <p:nvSpPr>
          <p:cNvPr id="3" name="Slide Title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/>
              <a:t>Обучения</a:t>
            </a:r>
            <a:r>
              <a:rPr lang="en-US" dirty="0"/>
              <a:t> </a:t>
            </a:r>
            <a:r>
              <a:rPr lang="bg-BG" dirty="0"/>
              <a:t>в</a:t>
            </a:r>
            <a:r>
              <a:rPr lang="en-US" dirty="0"/>
              <a:t> </a:t>
            </a:r>
            <a:r>
              <a:rPr lang="bg-BG" dirty="0"/>
              <a:t>Софтуерен университет (СофтУни</a:t>
            </a:r>
            <a:r>
              <a:rPr lang="en-US" dirty="0"/>
              <a:t>)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A472A74D-D019-4371-8E65-A341F42C2BBF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705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heme/theme1.xml><?xml version="1.0" encoding="utf-8"?>
<a:theme xmlns:a="http://schemas.openxmlformats.org/drawingml/2006/main" name="SoftUni">
  <a:themeElements>
    <a:clrScheme name="SoftUni">
      <a:dk1>
        <a:srgbClr val="234465"/>
      </a:dk1>
      <a:lt1>
        <a:srgbClr val="FFA0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F2AC44"/>
      </a:hlink>
      <a:folHlink>
        <a:srgbClr val="F6C78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4272</TotalTime>
  <Words>1951</Words>
  <Application>Microsoft Macintosh PowerPoint</Application>
  <PresentationFormat>Widescreen</PresentationFormat>
  <Paragraphs>464</Paragraphs>
  <Slides>38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Arial</vt:lpstr>
      <vt:lpstr>Calibri</vt:lpstr>
      <vt:lpstr>Consolas</vt:lpstr>
      <vt:lpstr>Wingdings</vt:lpstr>
      <vt:lpstr>Wingdings 2</vt:lpstr>
      <vt:lpstr>SoftUni</vt:lpstr>
      <vt:lpstr>Повторения (цикли)</vt:lpstr>
      <vt:lpstr>Съдържание</vt:lpstr>
      <vt:lpstr>Преговор</vt:lpstr>
      <vt:lpstr>Преговор</vt:lpstr>
      <vt:lpstr>Преговор</vt:lpstr>
      <vt:lpstr>Преговор</vt:lpstr>
      <vt:lpstr>While цикъл</vt:lpstr>
      <vt:lpstr>While цикъл - конструкция</vt:lpstr>
      <vt:lpstr>While цикъл – пример</vt:lpstr>
      <vt:lpstr>While цикъл – пример</vt:lpstr>
      <vt:lpstr>Безкраен цикъл</vt:lpstr>
      <vt:lpstr>Прекъсване чрез оператор break</vt:lpstr>
      <vt:lpstr>Прекратяване на цикъл</vt:lpstr>
      <vt:lpstr>Четене на текст – условие</vt:lpstr>
      <vt:lpstr>Четене на текст – решение</vt:lpstr>
      <vt:lpstr>Парола – условие</vt:lpstr>
      <vt:lpstr>Парола – решение</vt:lpstr>
      <vt:lpstr>Сума от числа – условие</vt:lpstr>
      <vt:lpstr>Сума от числа – решение</vt:lpstr>
      <vt:lpstr>Редица числа 2k + 1 – условие</vt:lpstr>
      <vt:lpstr>PowerPoint Presentation</vt:lpstr>
      <vt:lpstr>Редица числа 2k + 1 – решение</vt:lpstr>
      <vt:lpstr>Баланс на сметка – условие</vt:lpstr>
      <vt:lpstr>Баланс на сметка – условие</vt:lpstr>
      <vt:lpstr>PowerPoint Presentation</vt:lpstr>
      <vt:lpstr>Баланс на сметка – решение</vt:lpstr>
      <vt:lpstr>Най-голямо число – пример</vt:lpstr>
      <vt:lpstr>Най-голямо число – решение</vt:lpstr>
      <vt:lpstr>Най-малко число – условие</vt:lpstr>
      <vt:lpstr>Най-малко число – решение</vt:lpstr>
      <vt:lpstr>Продължаване на цикъла</vt:lpstr>
      <vt:lpstr>Завършване – условие </vt:lpstr>
      <vt:lpstr>Завършване – условие (2)</vt:lpstr>
      <vt:lpstr>Завършване – решение </vt:lpstr>
      <vt:lpstr>Какво научихме днес?</vt:lpstr>
      <vt:lpstr>PowerPoint Presentation</vt:lpstr>
      <vt:lpstr>Лиценз</vt:lpstr>
      <vt:lpstr>Обучения в Софтуерен университет (СофтУни)</vt:lpstr>
    </vt:vector>
  </TitlesOfParts>
  <Company>SoftUni – https://softuni.org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While Loop</dc:title>
  <dc:subject>Coding 101 Course</dc:subject>
  <dc:creator>Software University</dc:creator>
  <cp:keywords>Sofware University; SoftUni; programming; coding; software development; education; training; course; курс; програмиране; кодене; кодиране; СофтУни</cp:keywords>
  <dc:description>© SoftUni – https://softuni.org_x000d_
© Software University – https://softuni.bg_x000d_
_x000d_
Copyrighted document. Unauthorized copy, reproduction or use is not permitted.</dc:description>
  <cp:lastModifiedBy>Topuzakova, Desislava</cp:lastModifiedBy>
  <cp:revision>72</cp:revision>
  <dcterms:created xsi:type="dcterms:W3CDTF">2018-05-23T13:08:44Z</dcterms:created>
  <dcterms:modified xsi:type="dcterms:W3CDTF">2024-09-06T21:26:46Z</dcterms:modified>
  <cp:category>computer programming;programming;C#;програмиране;кодиране</cp:category>
</cp:coreProperties>
</file>